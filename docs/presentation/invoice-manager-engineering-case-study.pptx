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109fbd00cb469b" /><Relationship Type="http://schemas.openxmlformats.org/officeDocument/2006/relationships/extended-properties" Target="/docProps/app.xml" Id="R490721328e5a47f0" /><Relationship Type="http://schemas.openxmlformats.org/officeDocument/2006/relationships/officeDocument" Target="/ppt/presentation.xml" Id="Redf1b5495858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ca95800754a87"/>
  </p:sldMasterIdLst>
  <p:notesMasterIdLst>
    <p:notesMasterId xmlns:r="http://schemas.openxmlformats.org/officeDocument/2006/relationships" r:id="R50898be58cd94266"/>
  </p:notesMasterIdLst>
  <p:sldIdLst>
    <p:sldId xmlns:r="http://schemas.openxmlformats.org/officeDocument/2006/relationships" id="256" r:id="R6e0593365ef34ef4"/>
    <p:sldId xmlns:r="http://schemas.openxmlformats.org/officeDocument/2006/relationships" id="257" r:id="R744d632159a74262"/>
    <p:sldId xmlns:r="http://schemas.openxmlformats.org/officeDocument/2006/relationships" id="258" r:id="Rf7cfbfc586df43ca"/>
    <p:sldId xmlns:r="http://schemas.openxmlformats.org/officeDocument/2006/relationships" id="259" r:id="R557ea06817104492"/>
    <p:sldId xmlns:r="http://schemas.openxmlformats.org/officeDocument/2006/relationships" id="260" r:id="R3c819ca49eaa480f"/>
    <p:sldId xmlns:r="http://schemas.openxmlformats.org/officeDocument/2006/relationships" id="261" r:id="R6a837671b38e40f6"/>
    <p:sldId xmlns:r="http://schemas.openxmlformats.org/officeDocument/2006/relationships" id="262" r:id="R9be6a2cd8673459b"/>
    <p:sldId xmlns:r="http://schemas.openxmlformats.org/officeDocument/2006/relationships" id="263" r:id="R27531a43cc804fdc"/>
    <p:sldId xmlns:r="http://schemas.openxmlformats.org/officeDocument/2006/relationships" id="264" r:id="R61b5b34defa54e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e6ed064f84d32" /><Relationship Type="http://schemas.openxmlformats.org/officeDocument/2006/relationships/slideMaster" Target="/ppt/slideMasters/slideMaster1.xml" Id="Rc1eca95800754a87" /><Relationship Type="http://schemas.openxmlformats.org/officeDocument/2006/relationships/notesMaster" Target="/ppt/notesMasters/notesMaster1.xml" Id="R50898be58cd94266" /><Relationship Type="http://schemas.openxmlformats.org/officeDocument/2006/relationships/presProps" Target="/ppt/presProps.xml" Id="R961538b78c2d453a" /><Relationship Type="http://schemas.openxmlformats.org/officeDocument/2006/relationships/tableStyles" Target="/ppt/tableStyles.xml" Id="R7d9a4250678d454e" /><Relationship Type="http://schemas.openxmlformats.org/officeDocument/2006/relationships/slide" Target="/ppt/slides/slide1.xml" Id="R6e0593365ef34ef4" /><Relationship Type="http://schemas.openxmlformats.org/officeDocument/2006/relationships/slide" Target="/ppt/slides/slide2.xml" Id="R744d632159a74262" /><Relationship Type="http://schemas.openxmlformats.org/officeDocument/2006/relationships/slide" Target="/ppt/slides/slide3.xml" Id="Rf7cfbfc586df43ca" /><Relationship Type="http://schemas.openxmlformats.org/officeDocument/2006/relationships/slide" Target="/ppt/slides/slide4.xml" Id="R557ea06817104492" /><Relationship Type="http://schemas.openxmlformats.org/officeDocument/2006/relationships/slide" Target="/ppt/slides/slide5.xml" Id="R3c819ca49eaa480f" /><Relationship Type="http://schemas.openxmlformats.org/officeDocument/2006/relationships/slide" Target="/ppt/slides/slide6.xml" Id="R6a837671b38e40f6" /><Relationship Type="http://schemas.openxmlformats.org/officeDocument/2006/relationships/slide" Target="/ppt/slides/slide7.xml" Id="R9be6a2cd8673459b" /><Relationship Type="http://schemas.openxmlformats.org/officeDocument/2006/relationships/slide" Target="/ppt/slides/slide8.xml" Id="R27531a43cc804fdc" /><Relationship Type="http://schemas.openxmlformats.org/officeDocument/2006/relationships/slide" Target="/ppt/slides/slide9.xml" Id="R61b5b34defa54e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3ee5ef4d5f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891995cb445be" /><Relationship Type="http://schemas.openxmlformats.org/officeDocument/2006/relationships/notesMaster" Target="/ppt/notesMasters/notesMaster1.xml" Id="Rf520573d5875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b6c347c79b4c23" /><Relationship Type="http://schemas.openxmlformats.org/officeDocument/2006/relationships/notesMaster" Target="/ppt/notesMasters/notesMaster1.xml" Id="R06361f785e504c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1353b98844c4e" /><Relationship Type="http://schemas.openxmlformats.org/officeDocument/2006/relationships/notesMaster" Target="/ppt/notesMasters/notesMaster1.xml" Id="Ra936c44d6a364d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0b00487934d0b" /><Relationship Type="http://schemas.openxmlformats.org/officeDocument/2006/relationships/notesMaster" Target="/ppt/notesMasters/notesMaster1.xml" Id="Rc9b2d0cc2ed0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fe42518d034845" /><Relationship Type="http://schemas.openxmlformats.org/officeDocument/2006/relationships/notesMaster" Target="/ppt/notesMasters/notesMaster1.xml" Id="R3ebd6002dec04d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a82b0057546da" /><Relationship Type="http://schemas.openxmlformats.org/officeDocument/2006/relationships/notesMaster" Target="/ppt/notesMasters/notesMaster1.xml" Id="R394a4cd7d4b04f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c3dc08e4f54c7f" /><Relationship Type="http://schemas.openxmlformats.org/officeDocument/2006/relationships/notesMaster" Target="/ppt/notesMasters/notesMaster1.xml" Id="Rdb59ed4a5700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3574a3f89b434e" /><Relationship Type="http://schemas.openxmlformats.org/officeDocument/2006/relationships/notesMaster" Target="/ppt/notesMasters/notesMaster1.xml" Id="R15ef8b122be0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53ad262a954e7c" /><Relationship Type="http://schemas.openxmlformats.org/officeDocument/2006/relationships/notesMaster" Target="/ppt/notesMasters/notesMaster1.xml" Id="R0004bfbeaa5d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 screenshot: docs/images/screenshots/01-dashboard.png</a:t>
            </a:r>
          </a:p>
          <a:p xmlns:a="http://schemas.openxmlformats.org/drawingml/2006/main">
            <a:r>
              <a:t>Project facts: README.md; docs/releases/v1.0.0.md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workflow and scope: README.md; docs/requirements.md; docs/business-rules.md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Implemented invariants: docs/domain-model.md; docs/business-rules.md; docs/decisions/README.md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implementation: docs/architecture.md; project references in src/*.csproj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 screenshot: docs/images/screenshots/01-dashboard.png</a:t>
            </a:r>
          </a:p>
          <a:p xmlns:a="http://schemas.openxmlformats.org/drawingml/2006/main">
            <a:r>
              <a:t>Dashboard behavior: docs/case-study.md; docs/testing-strategy.md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 screenshot: docs/images/screenshots/02-quote-editor.png</a:t>
            </a:r>
          </a:p>
          <a:p xmlns:a="http://schemas.openxmlformats.org/drawingml/2006/main">
            <a:r>
              <a:t>Lifecycle and conversion rules: docs/domain-model.md; docs/business-rules.md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 screenshot: docs/images/screenshots/03-invoice-pdf.png</a:t>
            </a:r>
          </a:p>
          <a:p xmlns:a="http://schemas.openxmlformats.org/drawingml/2006/main">
            <a:r>
              <a:t>Snapshot and PDF rules: docs/business-rules.md; ADR-0005; ADR-0009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Verification evidence: docs/releases/v1.0.0.md; docs/milestone-reports/m7-completion.md; docs/testing-strategy.md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summary: README.md; docs/case-study.md; docs/releases/v1.0.0.md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6416fb12343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bca4b3dba442b" /><Relationship Type="http://schemas.openxmlformats.org/officeDocument/2006/relationships/slideLayout" Target="/ppt/slideLayouts/slideLayout1.xml" Id="Rfadfc8be964b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fc8be964b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630cc2f72476b" /><Relationship Type="http://schemas.openxmlformats.org/officeDocument/2006/relationships/image" Target="/ppt/media/image.png" Id="R80e662cdbfb347bc" /><Relationship Type="http://schemas.openxmlformats.org/officeDocument/2006/relationships/notesSlide" Target="/ppt/notesSlides/notesSlide1.xml" Id="R389ac522214846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2455c4ca245cd" /><Relationship Type="http://schemas.openxmlformats.org/officeDocument/2006/relationships/notesSlide" Target="/ppt/notesSlides/notesSlide2.xml" Id="R786870b7ddfc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48a57957743d8" /><Relationship Type="http://schemas.openxmlformats.org/officeDocument/2006/relationships/notesSlide" Target="/ppt/notesSlides/notesSlide3.xml" Id="R3f102731675e4a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5101f3d04563" /><Relationship Type="http://schemas.openxmlformats.org/officeDocument/2006/relationships/notesSlide" Target="/ppt/notesSlides/notesSlide4.xml" Id="Rc1c30aac7353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f3ac3080143b0" /><Relationship Type="http://schemas.openxmlformats.org/officeDocument/2006/relationships/image" Target="/ppt/media/image2.png" Id="R33f1899653cb408e" /><Relationship Type="http://schemas.openxmlformats.org/officeDocument/2006/relationships/notesSlide" Target="/ppt/notesSlides/notesSlide5.xml" Id="R2c7d627b2b2b4b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d4570dc904ec8" /><Relationship Type="http://schemas.openxmlformats.org/officeDocument/2006/relationships/image" Target="/ppt/media/image3.png" Id="R003c9174ea9d4c7e" /><Relationship Type="http://schemas.openxmlformats.org/officeDocument/2006/relationships/notesSlide" Target="/ppt/notesSlides/notesSlide6.xml" Id="Rea114816f2f8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59910f2ce41bc" /><Relationship Type="http://schemas.openxmlformats.org/officeDocument/2006/relationships/image" Target="/ppt/media/image4.png" Id="Rdee9a122a54f463a" /><Relationship Type="http://schemas.openxmlformats.org/officeDocument/2006/relationships/notesSlide" Target="/ppt/notesSlides/notesSlide7.xml" Id="R0893086b39d14d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a4b6cc6304c7c" /><Relationship Type="http://schemas.openxmlformats.org/officeDocument/2006/relationships/notesSlide" Target="/ppt/notesSlides/notesSlide8.xml" Id="R2ecf0fccad38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9bba916b64cd1" /><Relationship Type="http://schemas.openxmlformats.org/officeDocument/2006/relationships/notesSlide" Target="/ppt/notesSlides/notesSlide9.xml" Id="R70718570be2345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5478762-BA54-49DB-83E9-4294B9CA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995"/>
                </a:solidFill>
              </a:defRPr>
            </a:pPr>
            <a:r>
              <a:rPr sz="1125" b="1">
                <a:solidFill>
                  <a:srgbClr val="345995"/>
                </a:solidFill>
              </a:rPr>
              <a:t>01  /  PRODUCT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4460B0-6236-443A-A16B-76544434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02428"/>
                </a:solidFill>
              </a:defRPr>
            </a:pPr>
            <a:r>
              <a:rPr sz="4200" b="1">
                <a:solidFill>
                  <a:srgbClr val="202428"/>
                </a:solidFill>
              </a:rPr>
              <a:t>Invoice</a:t>
            </a:r>
          </a:p>
          <a:p xmlns:a="http://schemas.openxmlformats.org/drawingml/2006/main">
            <a:pPr algn="l">
              <a:defRPr sz="4200" b="1">
                <a:solidFill>
                  <a:srgbClr val="202428"/>
                </a:solidFill>
              </a:defRPr>
            </a:pPr>
            <a:r>
              <a:rPr sz="4200" b="1">
                <a:solidFill>
                  <a:srgbClr val="202428"/>
                </a:solidFill>
              </a:rPr>
              <a:t>Manager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41D65AA-A9F2-4329-9DC0-3F925A70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6B70"/>
                </a:solidFill>
              </a:defRPr>
            </a:pPr>
            <a:r>
              <a:rPr sz="1800" b="0">
                <a:solidFill>
                  <a:srgbClr val="656B70"/>
                </a:solidFill>
              </a:rPr>
              <a:t>Local-first quotation and invoicing</a:t>
            </a:r>
          </a:p>
          <a:p xmlns:a="http://schemas.openxmlformats.org/drawingml/2006/main">
            <a:pPr algn="l">
              <a:defRPr sz="1800" b="0">
                <a:solidFill>
                  <a:srgbClr val="656B70"/>
                </a:solidFill>
              </a:defRPr>
            </a:pPr>
            <a:r>
              <a:rPr sz="1800" b="0">
                <a:solidFill>
                  <a:srgbClr val="656B70"/>
                </a:solidFill>
              </a:rPr>
              <a:t>application for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A8472-E2BB-4EF1-BAE8-A813E57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5995"/>
            </a:solidFill>
            <a:prstDash val="solid"/>
          </a:ln>
        </p:spPr>
      </p:sp>
      <p:sp>
        <p:nvSpPr>
          <p:cNvPr id="5" name="cover-stack">
            <a:extLst xmlns:a="http://schemas.openxmlformats.org/drawingml/2006/main">
              <a:ext uri="{FF2B5EF4-FFF2-40B4-BE49-F238E27FC236}">
                <a16:creationId xmlns:a16="http://schemas.microsoft.com/office/drawing/2014/main" id="{BE7CCED1-352F-423C-AFD4-AAE84FC6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8"/>
                </a:solidFill>
              </a:defRPr>
            </a:pPr>
            <a:r>
              <a:rPr sz="1350" b="1">
                <a:solidFill>
                  <a:srgbClr val="202428"/>
                </a:solidFill>
              </a:rPr>
              <a:t>.NET 10  ·  WPF  ·  Clean Architecture</a:t>
            </a:r>
          </a:p>
          <a:p xmlns:a="http://schemas.openxmlformats.org/drawingml/2006/main">
            <a:pPr algn="l">
              <a:defRPr sz="1350" b="1">
                <a:solidFill>
                  <a:srgbClr val="202428"/>
                </a:solidFill>
              </a:defRPr>
            </a:pPr>
            <a:r>
              <a:rPr sz="1350" b="1">
                <a:solidFill>
                  <a:srgbClr val="202428"/>
                </a:solidFill>
              </a:rPr>
              <a:t>EF Core  ·  SQLite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72C773E-458C-4439-AB8F-75153661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B70"/>
                </a:solidFill>
              </a:defRPr>
            </a:pPr>
            <a:r>
              <a:rPr sz="1050" b="0">
                <a:solidFill>
                  <a:srgbClr val="656B70"/>
                </a:solidFill>
              </a:rPr>
              <a:t>Portfolio project  ·  v1.0.0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A9EA2EFA-0FE2-4A18-82A6-F423851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23900"/>
            <a:ext cx="6381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662cdbfb347bc"/>
          <a:stretch xmlns:a="http://schemas.openxmlformats.org/drawingml/2006/main"/>
        </p:blipFill>
        <p:spPr>
          <a:xfrm xmlns:a="http://schemas.openxmlformats.org/drawingml/2006/main">
            <a:off x="5314950" y="1215953"/>
            <a:ext cx="6076950" cy="2273443"/>
          </a:xfrm>
          <a:prstGeom xmlns:a="http://schemas.openxmlformats.org/drawingml/2006/main" prst="rect">
            <a:avLst/>
          </a:prstGeom>
        </p:spPr>
      </p:pic>
      <p:sp>
        <p:nvSpPr>
          <p:cNvPr id="9" name="cover-tests-number">
            <a:extLst xmlns:a="http://schemas.openxmlformats.org/drawingml/2006/main">
              <a:ext uri="{FF2B5EF4-FFF2-40B4-BE49-F238E27FC236}">
                <a16:creationId xmlns:a16="http://schemas.microsoft.com/office/drawing/2014/main" id="{8AFE1DD7-4913-422F-87F0-ECBEC74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45995"/>
                </a:solidFill>
              </a:defRPr>
            </a:pPr>
            <a:r>
              <a:rPr sz="3000" b="1">
                <a:solidFill>
                  <a:srgbClr val="345995"/>
                </a:solidFill>
              </a:rPr>
              <a:t>97</a:t>
            </a:r>
          </a:p>
        </p:txBody>
      </p:sp>
      <p:sp>
        <p:nvSpPr>
          <p:cNvPr id="10" name="cover-tests-label">
            <a:extLst xmlns:a="http://schemas.openxmlformats.org/drawingml/2006/main">
              <a:ext uri="{FF2B5EF4-FFF2-40B4-BE49-F238E27FC236}">
                <a16:creationId xmlns:a16="http://schemas.microsoft.com/office/drawing/2014/main" id="{8D090A95-4CDE-4C5A-AF3A-FD33E0F7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B70"/>
                </a:solidFill>
              </a:defRPr>
            </a:pPr>
            <a:r>
              <a:rPr sz="1125" b="0">
                <a:solidFill>
                  <a:srgbClr val="656B70"/>
                </a:solidFill>
              </a:rPr>
              <a:t>automated tests</a:t>
            </a:r>
          </a:p>
        </p:txBody>
      </p:sp>
      <p:sp>
        <p:nvSpPr>
          <p:cNvPr id="11" name="cover-warnings-number">
            <a:extLst xmlns:a="http://schemas.openxmlformats.org/drawingml/2006/main">
              <a:ext uri="{FF2B5EF4-FFF2-40B4-BE49-F238E27FC236}">
                <a16:creationId xmlns:a16="http://schemas.microsoft.com/office/drawing/2014/main" id="{B995DB34-ED4B-401D-A5FA-D4E73FA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428"/>
                </a:solidFill>
              </a:defRPr>
            </a:pPr>
            <a:r>
              <a:rPr sz="3000" b="1">
                <a:solidFill>
                  <a:srgbClr val="202428"/>
                </a:solidFill>
              </a:rPr>
              <a:t>0</a:t>
            </a:r>
          </a:p>
        </p:txBody>
      </p:sp>
      <p:sp>
        <p:nvSpPr>
          <p:cNvPr id="12" name="cover-warnings-label">
            <a:extLst xmlns:a="http://schemas.openxmlformats.org/drawingml/2006/main">
              <a:ext uri="{FF2B5EF4-FFF2-40B4-BE49-F238E27FC236}">
                <a16:creationId xmlns:a16="http://schemas.microsoft.com/office/drawing/2014/main" id="{F548B7F9-9468-47BE-A9F5-A7FAE34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B70"/>
                </a:solidFill>
              </a:defRPr>
            </a:pPr>
            <a:r>
              <a:rPr sz="1125" b="0">
                <a:solidFill>
                  <a:srgbClr val="656B70"/>
                </a:solidFill>
              </a:rPr>
              <a:t>build warnings</a:t>
            </a:r>
          </a:p>
        </p:txBody>
      </p:sp>
      <p:sp>
        <p:nvSpPr>
          <p:cNvPr id="13" name="cover-package">
            <a:extLst xmlns:a="http://schemas.openxmlformats.org/drawingml/2006/main">
              <a:ext uri="{FF2B5EF4-FFF2-40B4-BE49-F238E27FC236}">
                <a16:creationId xmlns:a16="http://schemas.microsoft.com/office/drawing/2014/main" id="{0258D5FA-E007-4A86-93D0-B8D00F3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48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6B58"/>
                </a:solidFill>
              </a:defRPr>
            </a:pPr>
            <a:r>
              <a:rPr sz="1950" b="1">
                <a:solidFill>
                  <a:srgbClr val="3F6B58"/>
                </a:solidFill>
              </a:rPr>
              <a:t>win-x64</a:t>
            </a:r>
          </a:p>
        </p:txBody>
      </p:sp>
      <p:sp>
        <p:nvSpPr>
          <p:cNvPr id="14" name="cover-package-label">
            <a:extLst xmlns:a="http://schemas.openxmlformats.org/drawingml/2006/main">
              <a:ext uri="{FF2B5EF4-FFF2-40B4-BE49-F238E27FC236}">
                <a16:creationId xmlns:a16="http://schemas.microsoft.com/office/drawing/2014/main" id="{A4C5387E-D852-418C-BE0B-6BE3C62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B70"/>
                </a:solidFill>
              </a:defRPr>
            </a:pPr>
            <a:r>
              <a:rPr sz="1125" b="0">
                <a:solidFill>
                  <a:srgbClr val="656B70"/>
                </a:solidFill>
              </a:rPr>
              <a:t>self-contained</a:t>
            </a:r>
          </a:p>
        </p:txBody>
      </p:sp>
    </p:spTree>
    <p:extLst>
      <p:ext uri="{BB962C8B-B14F-4D97-AF65-F5344CB8AC3E}">
        <p14:creationId xmlns:p14="http://schemas.microsoft.com/office/powerpoint/2010/main" val="86621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2">
            <a:extLst xmlns:a="http://schemas.openxmlformats.org/drawingml/2006/main">
              <a:ext uri="{FF2B5EF4-FFF2-40B4-BE49-F238E27FC236}">
                <a16:creationId xmlns:a16="http://schemas.microsoft.com/office/drawing/2014/main" id="{6FEF2BEF-C72D-4457-B28D-81FBA55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E61516F-A39F-4B78-897F-6E0637A9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One workflow from quote to payment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85D35866-B48C-442A-ADAC-1AC065E9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B70"/>
                </a:solidFill>
              </a:defRPr>
            </a:pPr>
            <a:r>
              <a:rPr sz="1500" b="0">
                <a:solidFill>
                  <a:srgbClr val="656B70"/>
                </a:solidFill>
              </a:rPr>
              <a:t>A focused product boundary for freelancers and small businesses.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E0F87-A36C-43D4-A859-79D7A0D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62410B8-1647-4BF2-8B4E-961F0B72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BD5693FE-FB8B-42F4-BB01-635553D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DE6C5-14E6-492F-B082-6EB91D44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5995"/>
            </a:solidFill>
            <a:prstDash val="solid"/>
          </a:ln>
        </p:spPr>
      </p:sp>
      <p:sp>
        <p:nvSpPr>
          <p:cNvPr id="8" name="stage-marker-0">
            <a:extLst xmlns:a="http://schemas.openxmlformats.org/drawingml/2006/main">
              <a:ext uri="{FF2B5EF4-FFF2-40B4-BE49-F238E27FC236}">
                <a16:creationId xmlns:a16="http://schemas.microsoft.com/office/drawing/2014/main" id="{1C726E71-BB7B-4CAB-ABA2-6FCAA50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22170797-307B-4A9C-8170-30DC9B39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01</a:t>
            </a:r>
          </a:p>
        </p:txBody>
      </p:sp>
      <p:sp>
        <p:nvSpPr>
          <p:cNvPr id="10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196A6430-D26B-4950-ACC5-C223D064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428"/>
                </a:solidFill>
              </a:defRPr>
            </a:pPr>
            <a:r>
              <a:rPr sz="1950" b="1">
                <a:solidFill>
                  <a:srgbClr val="202428"/>
                </a:solidFill>
              </a:rPr>
              <a:t>Company</a:t>
            </a:r>
          </a:p>
        </p:txBody>
      </p:sp>
      <p:sp>
        <p:nvSpPr>
          <p:cNvPr id="11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E5F6E2B1-C6AB-4E5D-9DA1-55D8A81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B70"/>
                </a:solidFill>
              </a:defRPr>
            </a:pPr>
            <a:r>
              <a:rPr sz="1275" b="0">
                <a:solidFill>
                  <a:srgbClr val="656B70"/>
                </a:solidFill>
              </a:rPr>
              <a:t>Profile + defaults</a:t>
            </a:r>
          </a:p>
        </p:txBody>
      </p:sp>
      <p:sp>
        <p:nvSpPr>
          <p:cNvPr id="12" name="stage-marker-1">
            <a:extLst xmlns:a="http://schemas.openxmlformats.org/drawingml/2006/main">
              <a:ext uri="{FF2B5EF4-FFF2-40B4-BE49-F238E27FC236}">
                <a16:creationId xmlns:a16="http://schemas.microsoft.com/office/drawing/2014/main" id="{0AA9BEB1-F011-4A1E-8FA6-CD6F63A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A89BE51E-FA57-4A14-B256-55AC5E0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24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02</a:t>
            </a:r>
          </a:p>
        </p:txBody>
      </p:sp>
      <p:sp>
        <p:nvSpPr>
          <p:cNvPr id="14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700CD86E-16EF-4B83-9AB0-5052121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428"/>
                </a:solidFill>
              </a:defRPr>
            </a:pPr>
            <a:r>
              <a:rPr sz="1950" b="1">
                <a:solidFill>
                  <a:srgbClr val="202428"/>
                </a:solidFill>
              </a:rPr>
              <a:t>Quote</a:t>
            </a:r>
          </a:p>
        </p:txBody>
      </p:sp>
      <p:sp>
        <p:nvSpPr>
          <p:cNvPr id="15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A68C44E7-8960-452A-81E9-548FD446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B70"/>
                </a:solidFill>
              </a:defRPr>
            </a:pPr>
            <a:r>
              <a:rPr sz="1275" b="0">
                <a:solidFill>
                  <a:srgbClr val="656B70"/>
                </a:solidFill>
              </a:rPr>
              <a:t>Snapshots + VAT</a:t>
            </a:r>
          </a:p>
        </p:txBody>
      </p:sp>
      <p:sp>
        <p:nvSpPr>
          <p:cNvPr id="16" name="stage-marker-2">
            <a:extLst xmlns:a="http://schemas.openxmlformats.org/drawingml/2006/main">
              <a:ext uri="{FF2B5EF4-FFF2-40B4-BE49-F238E27FC236}">
                <a16:creationId xmlns:a16="http://schemas.microsoft.com/office/drawing/2014/main" id="{1A58DD09-54F7-482D-B37B-9E49F0E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C21405F5-2EF3-45CA-A745-979EE26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03</a:t>
            </a:r>
          </a:p>
        </p:txBody>
      </p:sp>
      <p:sp>
        <p:nvSpPr>
          <p:cNvPr id="18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C10EA929-8A57-4574-9886-853383F6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428"/>
                </a:solidFill>
              </a:defRPr>
            </a:pPr>
            <a:r>
              <a:rPr sz="1950" b="1">
                <a:solidFill>
                  <a:srgbClr val="202428"/>
                </a:solidFill>
              </a:rPr>
              <a:t>Invoice</a:t>
            </a:r>
          </a:p>
        </p:txBody>
      </p:sp>
      <p:sp>
        <p:nvSpPr>
          <p:cNvPr id="19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5FF075FF-5607-4A30-B066-B628C5A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43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B70"/>
                </a:solidFill>
              </a:defRPr>
            </a:pPr>
            <a:r>
              <a:rPr sz="1275" b="0">
                <a:solidFill>
                  <a:srgbClr val="656B70"/>
                </a:solidFill>
              </a:rPr>
              <a:t>Atomic numbering</a:t>
            </a:r>
          </a:p>
        </p:txBody>
      </p:sp>
      <p:sp>
        <p:nvSpPr>
          <p:cNvPr id="20" name="stage-marker-3">
            <a:extLst xmlns:a="http://schemas.openxmlformats.org/drawingml/2006/main">
              <a:ext uri="{FF2B5EF4-FFF2-40B4-BE49-F238E27FC236}">
                <a16:creationId xmlns:a16="http://schemas.microsoft.com/office/drawing/2014/main" id="{BEC23F66-162F-464C-B455-5702241E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5463B29C-2460-476D-B252-C8521CBE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04</a:t>
            </a:r>
          </a:p>
        </p:txBody>
      </p:sp>
      <p:sp>
        <p:nvSpPr>
          <p:cNvPr id="22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1259C840-350C-498F-A73F-6046B32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428"/>
                </a:solidFill>
              </a:defRPr>
            </a:pPr>
            <a:r>
              <a:rPr sz="1950" b="1">
                <a:solidFill>
                  <a:srgbClr val="202428"/>
                </a:solidFill>
              </a:rPr>
              <a:t>Payment</a:t>
            </a:r>
          </a:p>
        </p:txBody>
      </p:sp>
      <p:sp>
        <p:nvSpPr>
          <p:cNvPr id="23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110A87D6-9042-427B-8293-A537D5F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B70"/>
                </a:solidFill>
              </a:defRPr>
            </a:pPr>
            <a:r>
              <a:rPr sz="1275" b="0">
                <a:solidFill>
                  <a:srgbClr val="656B70"/>
                </a:solidFill>
              </a:rPr>
              <a:t>Partial/full + voiding</a:t>
            </a:r>
          </a:p>
        </p:txBody>
      </p:sp>
      <p:sp>
        <p:nvSpPr>
          <p:cNvPr id="24" name="stage-marker-4">
            <a:extLst xmlns:a="http://schemas.openxmlformats.org/drawingml/2006/main">
              <a:ext uri="{FF2B5EF4-FFF2-40B4-BE49-F238E27FC236}">
                <a16:creationId xmlns:a16="http://schemas.microsoft.com/office/drawing/2014/main" id="{BAA12650-F546-4D0C-998C-3ED602FD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A6F46C87-0320-4F30-A282-883A82F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05</a:t>
            </a:r>
          </a:p>
        </p:txBody>
      </p:sp>
      <p:sp>
        <p:nvSpPr>
          <p:cNvPr id="26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9AA9740F-F988-48E9-8EF7-60C832D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428"/>
                </a:solidFill>
              </a:defRPr>
            </a:pPr>
            <a:r>
              <a:rPr sz="1950" b="1">
                <a:solidFill>
                  <a:srgbClr val="202428"/>
                </a:solidFill>
              </a:rPr>
              <a:t>Reporting</a:t>
            </a:r>
          </a:p>
        </p:txBody>
      </p:sp>
      <p:sp>
        <p:nvSpPr>
          <p:cNvPr id="27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FD8126C3-B4C9-4642-AB22-6ADDC2C0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43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B70"/>
                </a:solidFill>
              </a:defRPr>
            </a:pPr>
            <a:r>
              <a:rPr sz="1275" b="0">
                <a:solidFill>
                  <a:srgbClr val="656B70"/>
                </a:solidFill>
              </a:rPr>
              <a:t>Derived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E448F-D126-4BBD-98D7-A8CCF714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29" name="workflow-boundary">
            <a:extLst xmlns:a="http://schemas.openxmlformats.org/drawingml/2006/main">
              <a:ext uri="{FF2B5EF4-FFF2-40B4-BE49-F238E27FC236}">
                <a16:creationId xmlns:a16="http://schemas.microsoft.com/office/drawing/2014/main" id="{4EF29A4E-8CE0-4E00-B771-35AE830B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428"/>
                </a:solidFill>
              </a:defRPr>
            </a:pPr>
            <a:r>
              <a:rPr sz="1425" b="1">
                <a:solidFill>
                  <a:srgbClr val="202428"/>
                </a:solidFill>
              </a:rPr>
              <a:t>Local-first  ·  EUR  ·  SQLite  ·  no cloud account required</a:t>
            </a:r>
          </a:p>
        </p:txBody>
      </p:sp>
    </p:spTree>
    <p:extLst>
      <p:ext uri="{BB962C8B-B14F-4D97-AF65-F5344CB8AC3E}">
        <p14:creationId xmlns:p14="http://schemas.microsoft.com/office/powerpoint/2010/main" val="2121368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3">
            <a:extLst xmlns:a="http://schemas.openxmlformats.org/drawingml/2006/main">
              <a:ext uri="{FF2B5EF4-FFF2-40B4-BE49-F238E27FC236}">
                <a16:creationId xmlns:a16="http://schemas.microsoft.com/office/drawing/2014/main" id="{166FA99B-93DA-4D2C-996D-EBD980E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774C286-6DFA-4F4A-9B71-81A2E4D7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The difficult work is preserving business truth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714BA8F8-7A83-4087-BFCF-D491263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B70"/>
                </a:solidFill>
              </a:defRPr>
            </a:pPr>
            <a:r>
              <a:rPr sz="1500" b="0">
                <a:solidFill>
                  <a:srgbClr val="656B70"/>
                </a:solidFill>
              </a:rPr>
              <a:t>Four invariants turn a CRUD workflow into dependable software.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B1ECE-29F1-4D29-A80F-1CD5384B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05131104-A6EA-45C2-A906-C5E1AEA4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22BFCBBF-BFDB-493C-ADD9-979219F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03</a:t>
            </a:r>
          </a:p>
        </p:txBody>
      </p:sp>
      <p:sp>
        <p:nvSpPr>
          <p:cNvPr id="7" name="challenge-number-0">
            <a:extLst xmlns:a="http://schemas.openxmlformats.org/drawingml/2006/main">
              <a:ext uri="{FF2B5EF4-FFF2-40B4-BE49-F238E27FC236}">
                <a16:creationId xmlns:a16="http://schemas.microsoft.com/office/drawing/2014/main" id="{05DF1378-DD97-4D99-ABB2-7B4DC9E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01</a:t>
            </a:r>
          </a:p>
        </p:txBody>
      </p:sp>
      <p:sp>
        <p:nvSpPr>
          <p:cNvPr id="8" name="challenge-title-0">
            <a:extLst xmlns:a="http://schemas.openxmlformats.org/drawingml/2006/main">
              <a:ext uri="{FF2B5EF4-FFF2-40B4-BE49-F238E27FC236}">
                <a16:creationId xmlns:a16="http://schemas.microsoft.com/office/drawing/2014/main" id="{35839DCE-88FB-43B5-8F10-4B2DC62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Historical documents</a:t>
            </a:r>
          </a:p>
        </p:txBody>
      </p:sp>
      <p:sp>
        <p:nvSpPr>
          <p:cNvPr id="9" name="challenge-body-0">
            <a:extLst xmlns:a="http://schemas.openxmlformats.org/drawingml/2006/main">
              <a:ext uri="{FF2B5EF4-FFF2-40B4-BE49-F238E27FC236}">
                <a16:creationId xmlns:a16="http://schemas.microsoft.com/office/drawing/2014/main" id="{CBC4890D-40A0-43E9-BA14-D5055F5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Issuer, customer, line and logo snapshots keep issued output reproducible.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C4B0C-7A54-4E2B-9ADD-6AEBC45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1" name="challenge-number-1">
            <a:extLst xmlns:a="http://schemas.openxmlformats.org/drawingml/2006/main">
              <a:ext uri="{FF2B5EF4-FFF2-40B4-BE49-F238E27FC236}">
                <a16:creationId xmlns:a16="http://schemas.microsoft.com/office/drawing/2014/main" id="{2DC74AB6-745E-49F4-A87B-E4C10543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47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02</a:t>
            </a:r>
          </a:p>
        </p:txBody>
      </p:sp>
      <p:sp>
        <p:nvSpPr>
          <p:cNvPr id="12" name="challenge-title-1">
            <a:extLst xmlns:a="http://schemas.openxmlformats.org/drawingml/2006/main">
              <a:ext uri="{FF2B5EF4-FFF2-40B4-BE49-F238E27FC236}">
                <a16:creationId xmlns:a16="http://schemas.microsoft.com/office/drawing/2014/main" id="{DEF70F54-55CD-47D3-9B81-99740709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09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Transactional numbering</a:t>
            </a:r>
          </a:p>
        </p:txBody>
      </p:sp>
      <p:sp>
        <p:nvSpPr>
          <p:cNvPr id="13" name="challenge-body-1">
            <a:extLst xmlns:a="http://schemas.openxmlformats.org/drawingml/2006/main">
              <a:ext uri="{FF2B5EF4-FFF2-40B4-BE49-F238E27FC236}">
                <a16:creationId xmlns:a16="http://schemas.microsoft.com/office/drawing/2014/main" id="{A3F979FC-D9D9-4EFF-AAB0-B3EF6580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Numbers are allocated on first persistent save and protected by constraints.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C7770-B0AE-4C6E-967D-B6ED09B2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5" name="challenge-number-2">
            <a:extLst xmlns:a="http://schemas.openxmlformats.org/drawingml/2006/main">
              <a:ext uri="{FF2B5EF4-FFF2-40B4-BE49-F238E27FC236}">
                <a16:creationId xmlns:a16="http://schemas.microsoft.com/office/drawing/2014/main" id="{66826E57-5303-46F9-B3D2-A083A3D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03</a:t>
            </a:r>
          </a:p>
        </p:txBody>
      </p:sp>
      <p:sp>
        <p:nvSpPr>
          <p:cNvPr id="16" name="challenge-title-2">
            <a:extLst xmlns:a="http://schemas.openxmlformats.org/drawingml/2006/main">
              <a:ext uri="{FF2B5EF4-FFF2-40B4-BE49-F238E27FC236}">
                <a16:creationId xmlns:a16="http://schemas.microsoft.com/office/drawing/2014/main" id="{EAE09880-BD8A-4BAB-8BFF-6CA9BB2C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Auditable payments</a:t>
            </a:r>
          </a:p>
        </p:txBody>
      </p:sp>
      <p:sp>
        <p:nvSpPr>
          <p:cNvPr id="17" name="challenge-body-2">
            <a:extLst xmlns:a="http://schemas.openxmlformats.org/drawingml/2006/main">
              <a:ext uri="{FF2B5EF4-FFF2-40B4-BE49-F238E27FC236}">
                <a16:creationId xmlns:a16="http://schemas.microsoft.com/office/drawing/2014/main" id="{B503B6D8-669E-4D19-B83D-8292457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Immutable transactions use one-time voiding instead of rewriting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F6CC6-4AD4-4ADB-A859-A5F375B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9" name="challenge-number-3">
            <a:extLst xmlns:a="http://schemas.openxmlformats.org/drawingml/2006/main">
              <a:ext uri="{FF2B5EF4-FFF2-40B4-BE49-F238E27FC236}">
                <a16:creationId xmlns:a16="http://schemas.microsoft.com/office/drawing/2014/main" id="{E93E49E5-95EB-46FC-A92C-EFD1523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52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04</a:t>
            </a:r>
          </a:p>
        </p:txBody>
      </p:sp>
      <p:sp>
        <p:nvSpPr>
          <p:cNvPr id="20" name="challenge-title-3">
            <a:extLst xmlns:a="http://schemas.openxmlformats.org/drawingml/2006/main">
              <a:ext uri="{FF2B5EF4-FFF2-40B4-BE49-F238E27FC236}">
                <a16:creationId xmlns:a16="http://schemas.microsoft.com/office/drawing/2014/main" id="{4DCFE5AD-8239-4262-9067-986395D8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14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Deterministic time</a:t>
            </a:r>
          </a:p>
        </p:txBody>
      </p:sp>
      <p:sp>
        <p:nvSpPr>
          <p:cNvPr id="21" name="challenge-body-3">
            <a:extLst xmlns:a="http://schemas.openxmlformats.org/drawingml/2006/main">
              <a:ext uri="{FF2B5EF4-FFF2-40B4-BE49-F238E27FC236}">
                <a16:creationId xmlns:a16="http://schemas.microsoft.com/office/drawing/2014/main" id="{32F0BBAF-D607-4AF1-9F8B-6E3E393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9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Business dates and UTC audit instants are separated behind an injected clock.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9EC16-4140-445A-A8E2-40702174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9022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4">
            <a:extLst xmlns:a="http://schemas.openxmlformats.org/drawingml/2006/main">
              <a:ext uri="{FF2B5EF4-FFF2-40B4-BE49-F238E27FC236}">
                <a16:creationId xmlns:a16="http://schemas.microsoft.com/office/drawing/2014/main" id="{8277F034-D1CB-485D-ABE4-F19914D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4F29D6B-C4BF-4329-BEBB-3537F88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Dependencies point toward the domain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8B300345-40C2-4090-89A0-489BA671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B70"/>
                </a:solidFill>
              </a:defRPr>
            </a:pPr>
            <a:r>
              <a:rPr sz="1500" b="0">
                <a:solidFill>
                  <a:srgbClr val="656B70"/>
                </a:solidFill>
              </a:rPr>
              <a:t>Infrastructure implements ports; WPF remains a replaceable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13911-F335-4257-B12F-C6F58D4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81695D1-993A-4E5B-97CA-B33D511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8DA937F1-D374-4FC1-B53C-1689916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E0BC-2464-4FC4-AEB0-20B5E45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6B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C32DA-54C4-45BE-9B2E-3A8B450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33750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6B70"/>
            </a:solidFill>
            <a:prstDash val="solid"/>
          </a:ln>
        </p:spPr>
      </p:sp>
      <p:sp>
        <p:nvSpPr>
          <p:cNvPr id="9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AF482E79-74C9-4124-AA27-6DD99E97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0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E0CEA0DA-6BCE-4520-8123-1E4151F2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6B70"/>
                </a:solidFill>
              </a:defRPr>
            </a:pPr>
            <a:r>
              <a:rPr sz="1350" b="1">
                <a:solidFill>
                  <a:srgbClr val="656B70"/>
                </a:solidFill>
              </a:rPr>
              <a:t>APP</a:t>
            </a:r>
          </a:p>
        </p:txBody>
      </p:sp>
      <p:sp>
        <p:nvSpPr>
          <p:cNvPr id="11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D9E4EA5D-955F-4542-96F0-7B7E45F1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8"/>
                </a:solidFill>
              </a:defRPr>
            </a:pPr>
            <a:r>
              <a:rPr sz="1500" b="1">
                <a:solidFill>
                  <a:srgbClr val="202428"/>
                </a:solidFill>
              </a:rPr>
              <a:t>WPF · MVVM · Navigation</a:t>
            </a:r>
          </a:p>
        </p:txBody>
      </p:sp>
      <p:sp>
        <p:nvSpPr>
          <p:cNvPr id="12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880A71DD-D4C3-4D35-98FD-0369F1C6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E9D23A44-D280-4A70-ACAC-2FD0B68F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6B70"/>
                </a:solidFill>
              </a:defRPr>
            </a:pPr>
            <a:r>
              <a:rPr sz="1350" b="1">
                <a:solidFill>
                  <a:srgbClr val="656B70"/>
                </a:solidFill>
              </a:rPr>
              <a:t>APPLICATION</a:t>
            </a:r>
          </a:p>
        </p:txBody>
      </p:sp>
      <p:sp>
        <p:nvSpPr>
          <p:cNvPr id="14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1831D8CE-75EE-41C6-81D7-323C7BA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8"/>
                </a:solidFill>
              </a:defRPr>
            </a:pPr>
            <a:r>
              <a:rPr sz="1500" b="1">
                <a:solidFill>
                  <a:srgbClr val="202428"/>
                </a:solidFill>
              </a:rPr>
              <a:t>Use cases · Ports · Orchestration</a:t>
            </a:r>
          </a:p>
        </p:txBody>
      </p:sp>
      <p:sp>
        <p:nvSpPr>
          <p:cNvPr id="15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1BAB574F-136C-4902-BBF5-849A7CC4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571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45995"/>
            </a:solidFill>
            <a:prstDash val="solid"/>
          </a:ln>
        </p:spPr>
      </p:sp>
      <p:sp>
        <p:nvSpPr>
          <p:cNvPr id="16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59E9F14D-3B1C-46B6-B665-69348E3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DOMAIN</a:t>
            </a:r>
          </a:p>
        </p:txBody>
      </p:sp>
      <p:sp>
        <p:nvSpPr>
          <p:cNvPr id="17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6BF88EEF-DBFF-4A62-84BB-BAE0C50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8"/>
                </a:solidFill>
              </a:defRPr>
            </a:pPr>
            <a:r>
              <a:rPr sz="1500" b="1">
                <a:solidFill>
                  <a:srgbClr val="202428"/>
                </a:solidFill>
              </a:rPr>
              <a:t>Entities · Snapshots · Business rules</a:t>
            </a:r>
          </a:p>
        </p:txBody>
      </p:sp>
      <p:sp>
        <p:nvSpPr>
          <p:cNvPr id="18" name="infra-band">
            <a:extLst xmlns:a="http://schemas.openxmlformats.org/drawingml/2006/main">
              <a:ext uri="{FF2B5EF4-FFF2-40B4-BE49-F238E27FC236}">
                <a16:creationId xmlns:a16="http://schemas.microsoft.com/office/drawing/2014/main" id="{0AF8FEC4-CDA0-4056-BA00-60BE544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680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9" name="infra-title">
            <a:extLst xmlns:a="http://schemas.openxmlformats.org/drawingml/2006/main">
              <a:ext uri="{FF2B5EF4-FFF2-40B4-BE49-F238E27FC236}">
                <a16:creationId xmlns:a16="http://schemas.microsoft.com/office/drawing/2014/main" id="{65A2B1E1-92AF-4918-BA43-3E3F751E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6B70"/>
                </a:solidFill>
              </a:defRPr>
            </a:pPr>
            <a:r>
              <a:rPr sz="1125" b="1">
                <a:solidFill>
                  <a:srgbClr val="656B70"/>
                </a:solidFill>
              </a:rPr>
              <a:t>INFRASTRUCTURE</a:t>
            </a:r>
          </a:p>
        </p:txBody>
      </p:sp>
      <p:sp>
        <p:nvSpPr>
          <p:cNvPr id="20" name="infra-body">
            <a:extLst xmlns:a="http://schemas.openxmlformats.org/drawingml/2006/main">
              <a:ext uri="{FF2B5EF4-FFF2-40B4-BE49-F238E27FC236}">
                <a16:creationId xmlns:a16="http://schemas.microsoft.com/office/drawing/2014/main" id="{23F7DA8A-F4E8-44CF-8161-702C5B54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8"/>
                </a:solidFill>
              </a:defRPr>
            </a:pPr>
            <a:r>
              <a:rPr sz="1425" b="0">
                <a:solidFill>
                  <a:srgbClr val="202428"/>
                </a:solidFill>
              </a:rPr>
              <a:t>EF Core  ·  SQLite  ·  PDFsharp  ·  File storage</a:t>
            </a:r>
          </a:p>
        </p:txBody>
      </p:sp>
      <p:sp>
        <p:nvSpPr>
          <p:cNvPr id="21" name="architecture-result">
            <a:extLst xmlns:a="http://schemas.openxmlformats.org/drawingml/2006/main">
              <a:ext uri="{FF2B5EF4-FFF2-40B4-BE49-F238E27FC236}">
                <a16:creationId xmlns:a16="http://schemas.microsoft.com/office/drawing/2014/main" id="{131983E6-330A-4F72-B495-2F99B0B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5995"/>
                </a:solidFill>
              </a:defRPr>
            </a:pPr>
            <a:r>
              <a:rPr sz="1575" b="1">
                <a:solidFill>
                  <a:srgbClr val="345995"/>
                </a:solidFill>
              </a:rPr>
              <a:t>Result: business rules remain testable without WPF or SQLite.</a:t>
            </a:r>
          </a:p>
        </p:txBody>
      </p:sp>
    </p:spTree>
    <p:extLst>
      <p:ext uri="{BB962C8B-B14F-4D97-AF65-F5344CB8AC3E}">
        <p14:creationId xmlns:p14="http://schemas.microsoft.com/office/powerpoint/2010/main" val="1365066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5">
            <a:extLst xmlns:a="http://schemas.openxmlformats.org/drawingml/2006/main">
              <a:ext uri="{FF2B5EF4-FFF2-40B4-BE49-F238E27FC236}">
                <a16:creationId xmlns:a16="http://schemas.microsoft.com/office/drawing/2014/main" id="{BF7BDFAA-AA6D-4499-AED0-39289DD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0143A4C-FA9E-4EBA-813B-960EDEB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The dashboard is derived from persisted business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B1FDB-F520-485E-86F4-C353D82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E6DCD011-57A1-4793-A036-C0E3EE1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81DF01B6-CFEA-4779-A51D-12E985B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05</a:t>
            </a:r>
          </a:p>
        </p:txBody>
      </p:sp>
      <p:sp>
        <p:nvSpPr>
          <p:cNvPr id="6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1DFFBD1C-A638-47CC-96AF-BAB5B61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7715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1899653cb408e"/>
          <a:stretch xmlns:a="http://schemas.openxmlformats.org/drawingml/2006/main"/>
        </p:blipFill>
        <p:spPr>
          <a:xfrm xmlns:a="http://schemas.openxmlformats.org/drawingml/2006/main">
            <a:off x="704850" y="2285762"/>
            <a:ext cx="7486650" cy="2800825"/>
          </a:xfrm>
          <a:prstGeom xmlns:a="http://schemas.openxmlformats.org/drawingml/2006/main" prst="rect">
            <a:avLst/>
          </a:prstGeom>
        </p:spPr>
      </p:pic>
      <p:sp>
        <p:nvSpPr>
          <p:cNvPr id="8" name="dashboard-caption">
            <a:extLst xmlns:a="http://schemas.openxmlformats.org/drawingml/2006/main">
              <a:ext uri="{FF2B5EF4-FFF2-40B4-BE49-F238E27FC236}">
                <a16:creationId xmlns:a16="http://schemas.microsoft.com/office/drawing/2014/main" id="{370D53D4-BEB6-4F05-8F10-18FD1E0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B70"/>
                </a:solidFill>
              </a:defRPr>
            </a:pPr>
            <a:r>
              <a:rPr sz="1200" b="0">
                <a:solidFill>
                  <a:srgbClr val="656B70"/>
                </a:solidFill>
              </a:rPr>
              <a:t>Payment-based KPIs  ·  balances  ·  recent invoices  ·  12-month chart</a:t>
            </a:r>
          </a:p>
        </p:txBody>
      </p:sp>
      <p:sp>
        <p:nvSpPr>
          <p:cNvPr id="9" name="dashboard-callout-title">
            <a:extLst xmlns:a="http://schemas.openxmlformats.org/drawingml/2006/main">
              <a:ext uri="{FF2B5EF4-FFF2-40B4-BE49-F238E27FC236}">
                <a16:creationId xmlns:a16="http://schemas.microsoft.com/office/drawing/2014/main" id="{8031B5DB-DA32-4868-AC91-DB07357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LIVE DASHBOARD</a:t>
            </a:r>
          </a:p>
        </p:txBody>
      </p:sp>
      <p:sp>
        <p:nvSpPr>
          <p:cNvPr id="10" name="dashboard-callouts">
            <a:extLst xmlns:a="http://schemas.openxmlformats.org/drawingml/2006/main">
              <a:ext uri="{FF2B5EF4-FFF2-40B4-BE49-F238E27FC236}">
                <a16:creationId xmlns:a16="http://schemas.microsoft.com/office/drawing/2014/main" id="{708B0C25-8E92-43FB-98A5-ECF3C95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714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428"/>
                </a:solidFill>
              </a:defRPr>
            </a:pPr>
            <a:r>
              <a:rPr sz="1425" b="0">
                <a:solidFill>
                  <a:srgbClr val="202428"/>
                </a:solidFill>
              </a:rPr>
              <a:t>Revenue from active payments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428"/>
                </a:solidFill>
              </a:defRPr>
            </a:pPr>
            <a:r>
              <a:rPr sz="1425" b="0">
                <a:solidFill>
                  <a:srgbClr val="202428"/>
                </a:solidFill>
              </a:rPr>
              <a:t>Outstanding and overdue balances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428"/>
                </a:solidFill>
              </a:defRPr>
            </a:pPr>
            <a:r>
              <a:rPr sz="1425" b="0">
                <a:solidFill>
                  <a:srgbClr val="202428"/>
                </a:solidFill>
              </a:rPr>
              <a:t>Recent invoices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428"/>
                </a:solidFill>
              </a:defRPr>
            </a:pPr>
            <a:r>
              <a:rPr sz="1425" b="0">
                <a:solidFill>
                  <a:srgbClr val="202428"/>
                </a:solidFill>
              </a:rPr>
              <a:t>Zero-filled 12-month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F6083-2278-4268-A043-6BE42839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76875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2" name="dashboard-note">
            <a:extLst xmlns:a="http://schemas.openxmlformats.org/drawingml/2006/main">
              <a:ext uri="{FF2B5EF4-FFF2-40B4-BE49-F238E27FC236}">
                <a16:creationId xmlns:a16="http://schemas.microsoft.com/office/drawing/2014/main" id="{F006052C-96A7-49D3-9723-168F78D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578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B70"/>
                </a:solidFill>
              </a:defRPr>
            </a:pPr>
            <a:r>
              <a:rPr sz="1200" b="0">
                <a:solidFill>
                  <a:srgbClr val="656B70"/>
                </a:solidFill>
              </a:rPr>
              <a:t>No reporting cache or sample-only calculation layer.</a:t>
            </a:r>
          </a:p>
        </p:txBody>
      </p:sp>
    </p:spTree>
    <p:extLst>
      <p:ext uri="{BB962C8B-B14F-4D97-AF65-F5344CB8AC3E}">
        <p14:creationId xmlns:p14="http://schemas.microsoft.com/office/powerpoint/2010/main" val="1250261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6">
            <a:extLst xmlns:a="http://schemas.openxmlformats.org/drawingml/2006/main">
              <a:ext uri="{FF2B5EF4-FFF2-40B4-BE49-F238E27FC236}">
                <a16:creationId xmlns:a16="http://schemas.microsoft.com/office/drawing/2014/main" id="{466838C8-A589-4FE7-9F85-B32A3CD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7498004-D2FE-48FE-844B-B15E32C0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The quotation editor captures a stable business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5366F-DD09-4827-AD53-6EED729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9FEA694A-3ADC-4039-99E5-315BCB9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A5BE673E-CC9D-41DE-A206-E7DA388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06</a:t>
            </a:r>
          </a:p>
        </p:txBody>
      </p:sp>
      <p:sp>
        <p:nvSpPr>
          <p:cNvPr id="6" name="quote-frame">
            <a:extLst xmlns:a="http://schemas.openxmlformats.org/drawingml/2006/main">
              <a:ext uri="{FF2B5EF4-FFF2-40B4-BE49-F238E27FC236}">
                <a16:creationId xmlns:a16="http://schemas.microsoft.com/office/drawing/2014/main" id="{B9C358A8-CEF4-4241-826D-7E0A7FA0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9057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c9174ea9d4c7e"/>
          <a:srcRect xmlns:a="http://schemas.openxmlformats.org/drawingml/2006/main" l="0" t="7443" r="0" b="7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52650"/>
            <a:ext cx="767715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quote-callout-title">
            <a:extLst xmlns:a="http://schemas.openxmlformats.org/drawingml/2006/main">
              <a:ext uri="{FF2B5EF4-FFF2-40B4-BE49-F238E27FC236}">
                <a16:creationId xmlns:a16="http://schemas.microsoft.com/office/drawing/2014/main" id="{C187DBC0-22CF-421E-8E18-7A81E9AE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</a:defRPr>
            </a:pPr>
            <a:r>
              <a:rPr sz="1350" b="1">
                <a:solidFill>
                  <a:srgbClr val="345995"/>
                </a:solidFill>
              </a:rPr>
              <a:t>QUOTATION WORKFLOW</a:t>
            </a:r>
          </a:p>
        </p:txBody>
      </p:sp>
      <p:sp>
        <p:nvSpPr>
          <p:cNvPr id="9" name="quote-callouts">
            <a:extLst xmlns:a="http://schemas.openxmlformats.org/drawingml/2006/main">
              <a:ext uri="{FF2B5EF4-FFF2-40B4-BE49-F238E27FC236}">
                <a16:creationId xmlns:a16="http://schemas.microsoft.com/office/drawing/2014/main" id="{4787633E-398A-48DD-A867-CE8E666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2667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Active customer and service selection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Editable line snapshots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Centralized VAT calculation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Draft → Sent → Accepted / Rejected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One-time conversion to Invoice</a:t>
            </a:r>
          </a:p>
        </p:txBody>
      </p:sp>
    </p:spTree>
    <p:extLst>
      <p:ext uri="{BB962C8B-B14F-4D97-AF65-F5344CB8AC3E}">
        <p14:creationId xmlns:p14="http://schemas.microsoft.com/office/powerpoint/2010/main" val="17748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7">
            <a:extLst xmlns:a="http://schemas.openxmlformats.org/drawingml/2006/main">
              <a:ext uri="{FF2B5EF4-FFF2-40B4-BE49-F238E27FC236}">
                <a16:creationId xmlns:a16="http://schemas.microsoft.com/office/drawing/2014/main" id="{DCF4A98B-E8FC-4D32-A936-93B28D1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B38E8EA-3AAE-4EEE-BECE-FFC0A1A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Issued documents remain reproducible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B0FE0A23-122E-468D-9092-9B607A0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B70"/>
                </a:solidFill>
              </a:defRPr>
            </a:pPr>
            <a:r>
              <a:rPr sz="1500" b="0">
                <a:solidFill>
                  <a:srgbClr val="656B70"/>
                </a:solidFill>
              </a:rPr>
              <a:t>PDF generation reads persisted snapshots—not mutable source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05BA-3E0B-4471-A4A2-3D2E9341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4BDAD7D5-42F8-49EB-958C-50F5BD7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D1BAF101-D265-48C8-8AFF-91716CD7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07</a:t>
            </a:r>
          </a:p>
        </p:txBody>
      </p:sp>
      <p:sp>
        <p:nvSpPr>
          <p:cNvPr id="7" name="pdf-frame">
            <a:extLst xmlns:a="http://schemas.openxmlformats.org/drawingml/2006/main">
              <a:ext uri="{FF2B5EF4-FFF2-40B4-BE49-F238E27FC236}">
                <a16:creationId xmlns:a16="http://schemas.microsoft.com/office/drawing/2014/main" id="{E56224EA-C96C-4F48-B785-B828DFA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4767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9a122a54f463a"/>
          <a:stretch xmlns:a="http://schemas.openxmlformats.org/drawingml/2006/main"/>
        </p:blipFill>
        <p:spPr>
          <a:xfrm xmlns:a="http://schemas.openxmlformats.org/drawingml/2006/main">
            <a:off x="971550" y="2341844"/>
            <a:ext cx="4210050" cy="3564962"/>
          </a:xfrm>
          <a:prstGeom xmlns:a="http://schemas.openxmlformats.org/drawingml/2006/main" prst="rect">
            <a:avLst/>
          </a:prstGeom>
        </p:spPr>
      </p:pic>
      <p:sp>
        <p:nvSpPr>
          <p:cNvPr id="9" name="pdf-question-0">
            <a:extLst xmlns:a="http://schemas.openxmlformats.org/drawingml/2006/main">
              <a:ext uri="{FF2B5EF4-FFF2-40B4-BE49-F238E27FC236}">
                <a16:creationId xmlns:a16="http://schemas.microsoft.com/office/drawing/2014/main" id="{F80F200C-1947-4471-9427-DBF2DFF6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Company changed?</a:t>
            </a:r>
          </a:p>
        </p:txBody>
      </p:sp>
      <p:sp>
        <p:nvSpPr>
          <p:cNvPr id="10" name="pdf-answer-0">
            <a:extLst xmlns:a="http://schemas.openxmlformats.org/drawingml/2006/main">
              <a:ext uri="{FF2B5EF4-FFF2-40B4-BE49-F238E27FC236}">
                <a16:creationId xmlns:a16="http://schemas.microsoft.com/office/drawing/2014/main" id="{0328F781-62F7-4ACB-87A4-9EA55E0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6B58"/>
                </a:solidFill>
              </a:defRPr>
            </a:pPr>
            <a:r>
              <a:rPr sz="1350" b="1">
                <a:solidFill>
                  <a:srgbClr val="3F6B58"/>
                </a:solidFill>
              </a:rPr>
              <a:t>Existing PDF unchanged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14C35-5A77-433B-88C9-4F3E020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535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2" name="pdf-question-1">
            <a:extLst xmlns:a="http://schemas.openxmlformats.org/drawingml/2006/main">
              <a:ext uri="{FF2B5EF4-FFF2-40B4-BE49-F238E27FC236}">
                <a16:creationId xmlns:a16="http://schemas.microsoft.com/office/drawing/2014/main" id="{963A6829-1068-4DA5-8F2E-AF715A52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Customer moved?</a:t>
            </a:r>
          </a:p>
        </p:txBody>
      </p:sp>
      <p:sp>
        <p:nvSpPr>
          <p:cNvPr id="13" name="pdf-answer-1">
            <a:extLst xmlns:a="http://schemas.openxmlformats.org/drawingml/2006/main">
              <a:ext uri="{FF2B5EF4-FFF2-40B4-BE49-F238E27FC236}">
                <a16:creationId xmlns:a16="http://schemas.microsoft.com/office/drawing/2014/main" id="{197E8528-C547-4F62-82FC-2586ED15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6B58"/>
                </a:solidFill>
              </a:defRPr>
            </a:pPr>
            <a:r>
              <a:rPr sz="1350" b="1">
                <a:solidFill>
                  <a:srgbClr val="3F6B58"/>
                </a:solidFill>
              </a:rPr>
              <a:t>Existing PDF unchanged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BB0FB-EC03-43EF-8161-7F8DD35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535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5" name="pdf-question-2">
            <a:extLst xmlns:a="http://schemas.openxmlformats.org/drawingml/2006/main">
              <a:ext uri="{FF2B5EF4-FFF2-40B4-BE49-F238E27FC236}">
                <a16:creationId xmlns:a16="http://schemas.microsoft.com/office/drawing/2014/main" id="{CFD50955-D876-4F7B-986C-7ED414F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24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Service price changed?</a:t>
            </a:r>
          </a:p>
        </p:txBody>
      </p:sp>
      <p:sp>
        <p:nvSpPr>
          <p:cNvPr id="16" name="pdf-answer-2">
            <a:extLst xmlns:a="http://schemas.openxmlformats.org/drawingml/2006/main">
              <a:ext uri="{FF2B5EF4-FFF2-40B4-BE49-F238E27FC236}">
                <a16:creationId xmlns:a16="http://schemas.microsoft.com/office/drawing/2014/main" id="{29A6906E-1878-4B18-9618-2C28F92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6B58"/>
                </a:solidFill>
              </a:defRPr>
            </a:pPr>
            <a:r>
              <a:rPr sz="1350" b="1">
                <a:solidFill>
                  <a:srgbClr val="3F6B58"/>
                </a:solidFill>
              </a:rPr>
              <a:t>Existing PDF unchanged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DA786-B987-4A1C-A7C8-589285CF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535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8" name="pdf-question-3">
            <a:extLst xmlns:a="http://schemas.openxmlformats.org/drawingml/2006/main">
              <a:ext uri="{FF2B5EF4-FFF2-40B4-BE49-F238E27FC236}">
                <a16:creationId xmlns:a16="http://schemas.microsoft.com/office/drawing/2014/main" id="{153C4529-371A-429A-BE3B-BFB8F06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Logo changed?</a:t>
            </a:r>
          </a:p>
        </p:txBody>
      </p:sp>
      <p:sp>
        <p:nvSpPr>
          <p:cNvPr id="19" name="pdf-answer-3">
            <a:extLst xmlns:a="http://schemas.openxmlformats.org/drawingml/2006/main">
              <a:ext uri="{FF2B5EF4-FFF2-40B4-BE49-F238E27FC236}">
                <a16:creationId xmlns:a16="http://schemas.microsoft.com/office/drawing/2014/main" id="{587F4075-85D9-4868-B4DA-262BF092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6B58"/>
                </a:solidFill>
              </a:defRPr>
            </a:pPr>
            <a:r>
              <a:rPr sz="1350" b="1">
                <a:solidFill>
                  <a:srgbClr val="3F6B58"/>
                </a:solidFill>
              </a:rPr>
              <a:t>Existing PDF unchanged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C4A21-4646-45F5-B81B-C42AE90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535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21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3188F277-B883-416B-8C8E-D1123EE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9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Snapshot boundary</a:t>
            </a:r>
          </a:p>
        </p:txBody>
      </p:sp>
      <p:sp>
        <p:nvSpPr>
          <p:cNvPr id="22" name="snapshot-values">
            <a:extLst xmlns:a="http://schemas.openxmlformats.org/drawingml/2006/main">
              <a:ext uri="{FF2B5EF4-FFF2-40B4-BE49-F238E27FC236}">
                <a16:creationId xmlns:a16="http://schemas.microsoft.com/office/drawing/2014/main" id="{4C9329D3-D8BA-414A-8470-8E359558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428"/>
                </a:solidFill>
              </a:defRPr>
            </a:pPr>
            <a:r>
              <a:rPr sz="1500" b="0">
                <a:solidFill>
                  <a:srgbClr val="202428"/>
                </a:solidFill>
              </a:rPr>
              <a:t>Issuer  ·  Customer  ·  Items  ·  Logo</a:t>
            </a:r>
          </a:p>
        </p:txBody>
      </p:sp>
    </p:spTree>
    <p:extLst>
      <p:ext uri="{BB962C8B-B14F-4D97-AF65-F5344CB8AC3E}">
        <p14:creationId xmlns:p14="http://schemas.microsoft.com/office/powerpoint/2010/main" val="755523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8">
            <a:extLst xmlns:a="http://schemas.openxmlformats.org/drawingml/2006/main">
              <a:ext uri="{FF2B5EF4-FFF2-40B4-BE49-F238E27FC236}">
                <a16:creationId xmlns:a16="http://schemas.microsoft.com/office/drawing/2014/main" id="{E251BC70-E3D2-4EA5-81E5-71530CC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5995"/>
                </a:solidFill>
              </a:defRPr>
            </a:pPr>
            <a:r>
              <a:rPr sz="1200" b="1">
                <a:solidFill>
                  <a:srgbClr val="345995"/>
                </a:solidFill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D900E56-1B43-4828-A31A-0CDA1FC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8"/>
                </a:solidFill>
              </a:defRPr>
            </a:pPr>
            <a:r>
              <a:rPr sz="2850" b="1">
                <a:solidFill>
                  <a:srgbClr val="202428"/>
                </a:solidFill>
              </a:rPr>
              <a:t>Release quality is measurable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0DD97669-E89C-473F-BD69-934E1FD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B70"/>
                </a:solidFill>
              </a:defRPr>
            </a:pPr>
            <a:r>
              <a:rPr sz="1500" b="0">
                <a:solidFill>
                  <a:srgbClr val="656B70"/>
                </a:solidFill>
              </a:rPr>
              <a:t>The same repository state was verified in a fresh clone.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77C8-8A4C-4E36-8B33-6B69E3A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AEC0FFEE-5309-4016-969A-6E63B85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B70"/>
                </a:solidFill>
              </a:defRPr>
            </a:pPr>
            <a:r>
              <a:rPr sz="900" b="1">
                <a:solidFill>
                  <a:srgbClr val="656B70"/>
                </a:solidFill>
              </a:rPr>
              <a:t>INVOICE MANAGER  /  v1.0.0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4F37CB28-AC65-4B85-85D6-0427692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6B70"/>
                </a:solidFill>
              </a:defRPr>
            </a:pPr>
            <a:r>
              <a:rPr sz="900" b="0">
                <a:solidFill>
                  <a:srgbClr val="656B70"/>
                </a:solidFill>
              </a:rPr>
              <a:t>08</a:t>
            </a:r>
          </a:p>
        </p:txBody>
      </p:sp>
      <p:sp>
        <p:nvSpPr>
          <p:cNvPr id="7" name="metric-number-0">
            <a:extLst xmlns:a="http://schemas.openxmlformats.org/drawingml/2006/main">
              <a:ext uri="{FF2B5EF4-FFF2-40B4-BE49-F238E27FC236}">
                <a16:creationId xmlns:a16="http://schemas.microsoft.com/office/drawing/2014/main" id="{E99FABF8-4F7B-4E2C-8116-0997E07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45995"/>
                </a:solidFill>
              </a:defRPr>
            </a:pPr>
            <a:r>
              <a:rPr sz="5100" b="1">
                <a:solidFill>
                  <a:srgbClr val="345995"/>
                </a:solidFill>
              </a:rPr>
              <a:t>97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FB5D11A-0C75-4755-AB98-8B03251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6C63A-2953-4E0E-95A1-4D95C53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0" name="metric-number-1">
            <a:extLst xmlns:a="http://schemas.openxmlformats.org/drawingml/2006/main">
              <a:ext uri="{FF2B5EF4-FFF2-40B4-BE49-F238E27FC236}">
                <a16:creationId xmlns:a16="http://schemas.microsoft.com/office/drawing/2014/main" id="{B20DC796-1941-4EE3-AD9D-E3F09C3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02428"/>
                </a:solidFill>
              </a:defRPr>
            </a:pPr>
            <a:r>
              <a:rPr sz="5100" b="1">
                <a:solidFill>
                  <a:srgbClr val="202428"/>
                </a:solidFill>
              </a:rPr>
              <a:t>0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D1B00A1-9F1E-498F-8F85-E81A2525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build warnings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77DB2-CE32-4FFD-A6A0-99F9FC8A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957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3" name="metric-number-2">
            <a:extLst xmlns:a="http://schemas.openxmlformats.org/drawingml/2006/main">
              <a:ext uri="{FF2B5EF4-FFF2-40B4-BE49-F238E27FC236}">
                <a16:creationId xmlns:a16="http://schemas.microsoft.com/office/drawing/2014/main" id="{784AE3F3-5446-488F-A093-B4FFC12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02428"/>
                </a:solidFill>
              </a:defRPr>
            </a:pPr>
            <a:r>
              <a:rPr sz="5100" b="1">
                <a:solidFill>
                  <a:srgbClr val="202428"/>
                </a:solidFill>
              </a:rPr>
              <a:t>0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B476369-42BF-46DD-A3B8-B76A94E4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build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79AA6-4EEE-4519-B05C-14AFCE6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6" name="metric-number-3">
            <a:extLst xmlns:a="http://schemas.openxmlformats.org/drawingml/2006/main">
              <a:ext uri="{FF2B5EF4-FFF2-40B4-BE49-F238E27FC236}">
                <a16:creationId xmlns:a16="http://schemas.microsoft.com/office/drawing/2014/main" id="{C3C54E94-9BA9-4FDD-9568-5D5AE58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F6B58"/>
                </a:solidFill>
              </a:defRPr>
            </a:pPr>
            <a:r>
              <a:rPr sz="5100" b="1">
                <a:solidFill>
                  <a:srgbClr val="3F6B58"/>
                </a:solidFill>
              </a:rPr>
              <a:t>0</a:t>
            </a:r>
          </a:p>
        </p:txBody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7AD5E30-F4A8-4ED2-B95D-87751CD5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known vulnerable dependencies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1D4A3-B818-47D6-96AD-605315A3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19" name="quality-domain">
            <a:extLst xmlns:a="http://schemas.openxmlformats.org/drawingml/2006/main">
              <a:ext uri="{FF2B5EF4-FFF2-40B4-BE49-F238E27FC236}">
                <a16:creationId xmlns:a16="http://schemas.microsoft.com/office/drawing/2014/main" id="{77D29A16-D8E5-4BF2-81F4-B602EBA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428"/>
                </a:solidFill>
              </a:defRPr>
            </a:pPr>
            <a:r>
              <a:rPr sz="1425" b="1">
                <a:solidFill>
                  <a:srgbClr val="202428"/>
                </a:solidFill>
              </a:rPr>
              <a:t>43 Domain</a:t>
            </a:r>
          </a:p>
        </p:txBody>
      </p:sp>
      <p:sp>
        <p:nvSpPr>
          <p:cNvPr id="20" name="quality-app">
            <a:extLst xmlns:a="http://schemas.openxmlformats.org/drawingml/2006/main">
              <a:ext uri="{FF2B5EF4-FFF2-40B4-BE49-F238E27FC236}">
                <a16:creationId xmlns:a16="http://schemas.microsoft.com/office/drawing/2014/main" id="{E43D036B-7E59-4656-8D7B-64B4E283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428"/>
                </a:solidFill>
              </a:defRPr>
            </a:pPr>
            <a:r>
              <a:rPr sz="1425" b="1">
                <a:solidFill>
                  <a:srgbClr val="202428"/>
                </a:solidFill>
              </a:rPr>
              <a:t>26 Application</a:t>
            </a:r>
          </a:p>
        </p:txBody>
      </p:sp>
      <p:sp>
        <p:nvSpPr>
          <p:cNvPr id="21" name="quality-infra">
            <a:extLst xmlns:a="http://schemas.openxmlformats.org/drawingml/2006/main">
              <a:ext uri="{FF2B5EF4-FFF2-40B4-BE49-F238E27FC236}">
                <a16:creationId xmlns:a16="http://schemas.microsoft.com/office/drawing/2014/main" id="{70D7F7D4-7576-4914-ACBC-52D48AA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428"/>
                </a:solidFill>
              </a:defRPr>
            </a:pPr>
            <a:r>
              <a:rPr sz="1425" b="1">
                <a:solidFill>
                  <a:srgbClr val="202428"/>
                </a:solidFill>
              </a:rPr>
              <a:t>28 Infrastructure</a:t>
            </a:r>
          </a:p>
        </p:txBody>
      </p:sp>
      <p:sp>
        <p:nvSpPr>
          <p:cNvPr id="22" name="quality-ef">
            <a:extLst xmlns:a="http://schemas.openxmlformats.org/drawingml/2006/main">
              <a:ext uri="{FF2B5EF4-FFF2-40B4-BE49-F238E27FC236}">
                <a16:creationId xmlns:a16="http://schemas.microsoft.com/office/drawing/2014/main" id="{87D7F3C5-9DE6-42B7-BC9F-E0304DF7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EF Core model verified</a:t>
            </a:r>
          </a:p>
        </p:txBody>
      </p:sp>
      <p:sp>
        <p:nvSpPr>
          <p:cNvPr id="23" name="quality-pdf">
            <a:extLst xmlns:a="http://schemas.openxmlformats.org/drawingml/2006/main">
              <a:ext uri="{FF2B5EF4-FFF2-40B4-BE49-F238E27FC236}">
                <a16:creationId xmlns:a16="http://schemas.microsoft.com/office/drawing/2014/main" id="{C2615C9A-2446-4999-B9AD-C72ED302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PDFs visually reviewed</a:t>
            </a:r>
          </a:p>
        </p:txBody>
      </p:sp>
      <p:sp>
        <p:nvSpPr>
          <p:cNvPr id="24" name="quality-release">
            <a:extLst xmlns:a="http://schemas.openxmlformats.org/drawingml/2006/main">
              <a:ext uri="{FF2B5EF4-FFF2-40B4-BE49-F238E27FC236}">
                <a16:creationId xmlns:a16="http://schemas.microsoft.com/office/drawing/2014/main" id="{51C884D3-2AAD-4140-9109-9A4A3028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3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Self-contained win-x64</a:t>
            </a:r>
          </a:p>
        </p:txBody>
      </p:sp>
    </p:spTree>
    <p:extLst>
      <p:ext uri="{BB962C8B-B14F-4D97-AF65-F5344CB8AC3E}">
        <p14:creationId xmlns:p14="http://schemas.microsoft.com/office/powerpoint/2010/main" val="1604958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eyebrow">
            <a:extLst xmlns:a="http://schemas.openxmlformats.org/drawingml/2006/main">
              <a:ext uri="{FF2B5EF4-FFF2-40B4-BE49-F238E27FC236}">
                <a16:creationId xmlns:a16="http://schemas.microsoft.com/office/drawing/2014/main" id="{8FB59AEA-58D7-4747-BE3E-1E3B6160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995"/>
                </a:solidFill>
              </a:defRPr>
            </a:pPr>
            <a:r>
              <a:rPr sz="1125" b="1">
                <a:solidFill>
                  <a:srgbClr val="345995"/>
                </a:solidFill>
              </a:rPr>
              <a:t>09  /  RESULT</a:t>
            </a:r>
          </a:p>
        </p:txBody>
      </p:sp>
      <p:sp>
        <p:nvSpPr>
          <p:cNvPr id="2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74FF1C27-3771-4EC1-968F-FB22EAB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2428"/>
                </a:solidFill>
              </a:defRPr>
            </a:pPr>
            <a:r>
              <a:rPr sz="3450" b="1">
                <a:solidFill>
                  <a:srgbClr val="202428"/>
                </a:solidFill>
              </a:rPr>
              <a:t>A small finished product—</a:t>
            </a:r>
          </a:p>
          <a:p xmlns:a="http://schemas.openxmlformats.org/drawingml/2006/main">
            <a:pPr algn="l">
              <a:defRPr sz="3450" b="1">
                <a:solidFill>
                  <a:srgbClr val="202428"/>
                </a:solidFill>
              </a:defRPr>
            </a:pPr>
            <a:r>
              <a:rPr sz="3450" b="1">
                <a:solidFill>
                  <a:srgbClr val="202428"/>
                </a:solidFill>
              </a:rPr>
              <a:t>with transparent engineering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7D453-4062-49D3-AEE5-505E9BA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5995"/>
            </a:solidFill>
            <a:prstDash val="solid"/>
          </a:ln>
        </p:spPr>
      </p:sp>
      <p:sp>
        <p:nvSpPr>
          <p:cNvPr id="4" name="result-lead">
            <a:extLst xmlns:a="http://schemas.openxmlformats.org/drawingml/2006/main">
              <a:ext uri="{FF2B5EF4-FFF2-40B4-BE49-F238E27FC236}">
                <a16:creationId xmlns:a16="http://schemas.microsoft.com/office/drawing/2014/main" id="{2628FA2B-B4EC-4126-9E1A-36F1718B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6B70"/>
                </a:solidFill>
              </a:defRPr>
            </a:pPr>
            <a:r>
              <a:rPr sz="1650" b="0">
                <a:solidFill>
                  <a:srgbClr val="656B70"/>
                </a:solidFill>
              </a:rPr>
              <a:t>Invoice Manager demonstrates end-to-end software delivery:</a:t>
            </a:r>
          </a:p>
        </p:txBody>
      </p:sp>
      <p:sp>
        <p:nvSpPr>
          <p:cNvPr id="5" name="result-flow">
            <a:extLst xmlns:a="http://schemas.openxmlformats.org/drawingml/2006/main">
              <a:ext uri="{FF2B5EF4-FFF2-40B4-BE49-F238E27FC236}">
                <a16:creationId xmlns:a16="http://schemas.microsoft.com/office/drawing/2014/main" id="{9546C549-14E9-407E-AA5C-FDD8B00D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requirements  →  domain design  →  persistence  →  desktop UI</a:t>
            </a:r>
          </a:p>
          <a:p xmlns:a="http://schemas.openxmlformats.org/drawingml/2006/main">
            <a:pPr algn="l">
              <a:defRPr sz="1875" b="1">
                <a:solidFill>
                  <a:srgbClr val="202428"/>
                </a:solidFill>
              </a:defRPr>
            </a:pPr>
            <a:r>
              <a:rPr sz="1875" b="1">
                <a:solidFill>
                  <a:srgbClr val="202428"/>
                </a:solidFill>
              </a:rPr>
              <a:t>tests  →  documentation  →  release packaging</a:t>
            </a:r>
          </a:p>
        </p:txBody>
      </p:sp>
      <p:sp>
        <p:nvSpPr>
          <p:cNvPr id="6" name="result-release">
            <a:extLst xmlns:a="http://schemas.openxmlformats.org/drawingml/2006/main">
              <a:ext uri="{FF2B5EF4-FFF2-40B4-BE49-F238E27FC236}">
                <a16:creationId xmlns:a16="http://schemas.microsoft.com/office/drawing/2014/main" id="{4CED8E2E-5480-4A0A-8007-B697780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3CB"/>
            </a:solidFill>
            <a:prstDash val="solid"/>
          </a:ln>
        </p:spPr>
      </p:sp>
      <p:sp>
        <p:nvSpPr>
          <p:cNvPr id="7" name="result-version">
            <a:extLst xmlns:a="http://schemas.openxmlformats.org/drawingml/2006/main">
              <a:ext uri="{FF2B5EF4-FFF2-40B4-BE49-F238E27FC236}">
                <a16:creationId xmlns:a16="http://schemas.microsoft.com/office/drawing/2014/main" id="{111C921F-0C8F-4CDC-833B-C2CCD4B8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57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5995"/>
                </a:solidFill>
              </a:defRPr>
            </a:pPr>
            <a:r>
              <a:rPr sz="2550" b="1">
                <a:solidFill>
                  <a:srgbClr val="345995"/>
                </a:solidFill>
              </a:rPr>
              <a:t>v1.0.0</a:t>
            </a:r>
          </a:p>
        </p:txBody>
      </p:sp>
      <p:sp>
        <p:nvSpPr>
          <p:cNvPr id="8" name="result-details">
            <a:extLst xmlns:a="http://schemas.openxmlformats.org/drawingml/2006/main">
              <a:ext uri="{FF2B5EF4-FFF2-40B4-BE49-F238E27FC236}">
                <a16:creationId xmlns:a16="http://schemas.microsoft.com/office/drawing/2014/main" id="{D89B98B4-4CA3-4709-A221-B461F9ED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434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Windows x64</a:t>
            </a:r>
          </a:p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Local-first</a:t>
            </a:r>
          </a:p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GitHub-ready</a:t>
            </a:r>
          </a:p>
        </p:txBody>
      </p:sp>
      <p:sp>
        <p:nvSpPr>
          <p:cNvPr id="9" name="result-footer">
            <a:extLst xmlns:a="http://schemas.openxmlformats.org/drawingml/2006/main">
              <a:ext uri="{FF2B5EF4-FFF2-40B4-BE49-F238E27FC236}">
                <a16:creationId xmlns:a16="http://schemas.microsoft.com/office/drawing/2014/main" id="{20376860-119B-4249-86C1-1A4DBD4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6B70"/>
                </a:solidFill>
              </a:defRPr>
            </a:pPr>
            <a:r>
              <a:rPr sz="1350" b="0">
                <a:solidFill>
                  <a:srgbClr val="656B70"/>
                </a:solidFill>
              </a:rPr>
              <a:t>Source, screenshots, ADRs, release notes and verified package prepared for publication.</a:t>
            </a:r>
          </a:p>
        </p:txBody>
      </p:sp>
    </p:spTree>
    <p:extLst>
      <p:ext uri="{BB962C8B-B14F-4D97-AF65-F5344CB8AC3E}">
        <p14:creationId xmlns:p14="http://schemas.microsoft.com/office/powerpoint/2010/main" val="150199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2026-08-12T10:05:21.8270000Z</dcterms:created>
  <dcterms:modified xsi:type="dcterms:W3CDTF">2026-08-12T10:05:21.8280000Z</dcterms:modified>
</coreProperties>
</file>