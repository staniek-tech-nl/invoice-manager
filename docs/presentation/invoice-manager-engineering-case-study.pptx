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fff62d7b145c8" /><Relationship Type="http://schemas.openxmlformats.org/officeDocument/2006/relationships/extended-properties" Target="/docProps/app.xml" Id="Re3e55ccd0d4f4ed6" /><Relationship Type="http://schemas.openxmlformats.org/officeDocument/2006/relationships/officeDocument" Target="/ppt/presentation.xml" Id="Reb355d1763584b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1989845f2d446d"/>
  </p:sldMasterIdLst>
  <p:notesMasterIdLst>
    <p:notesMasterId xmlns:r="http://schemas.openxmlformats.org/officeDocument/2006/relationships" r:id="Ref568f2cc0d04373"/>
  </p:notesMasterIdLst>
  <p:sldIdLst>
    <p:sldId xmlns:r="http://schemas.openxmlformats.org/officeDocument/2006/relationships" id="256" r:id="R04b0bbb14e6246b4"/>
    <p:sldId xmlns:r="http://schemas.openxmlformats.org/officeDocument/2006/relationships" id="257" r:id="R3f568837008b47fc"/>
    <p:sldId xmlns:r="http://schemas.openxmlformats.org/officeDocument/2006/relationships" id="258" r:id="Rb742d4ef715c41e2"/>
    <p:sldId xmlns:r="http://schemas.openxmlformats.org/officeDocument/2006/relationships" id="259" r:id="R380e8f76c5104a26"/>
    <p:sldId xmlns:r="http://schemas.openxmlformats.org/officeDocument/2006/relationships" id="260" r:id="R23e81c85ab6948bf"/>
    <p:sldId xmlns:r="http://schemas.openxmlformats.org/officeDocument/2006/relationships" id="261" r:id="Rf5e9ff63aa8b4222"/>
    <p:sldId xmlns:r="http://schemas.openxmlformats.org/officeDocument/2006/relationships" id="262" r:id="Rac60083f316c4f4e"/>
    <p:sldId xmlns:r="http://schemas.openxmlformats.org/officeDocument/2006/relationships" id="263" r:id="R2b8e5d3729244215"/>
    <p:sldId xmlns:r="http://schemas.openxmlformats.org/officeDocument/2006/relationships" id="264" r:id="R594b0c47e45844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1649a4f0384e89" /><Relationship Type="http://schemas.openxmlformats.org/officeDocument/2006/relationships/slideMaster" Target="/ppt/slideMasters/slideMaster1.xml" Id="Rac1989845f2d446d" /><Relationship Type="http://schemas.openxmlformats.org/officeDocument/2006/relationships/notesMaster" Target="/ppt/notesMasters/notesMaster1.xml" Id="Ref568f2cc0d04373" /><Relationship Type="http://schemas.openxmlformats.org/officeDocument/2006/relationships/presProps" Target="/ppt/presProps.xml" Id="R8d46c5d8a8974ef3" /><Relationship Type="http://schemas.openxmlformats.org/officeDocument/2006/relationships/tableStyles" Target="/ppt/tableStyles.xml" Id="Rda3678885bce4b0a" /><Relationship Type="http://schemas.openxmlformats.org/officeDocument/2006/relationships/slide" Target="/ppt/slides/slide1.xml" Id="R04b0bbb14e6246b4" /><Relationship Type="http://schemas.openxmlformats.org/officeDocument/2006/relationships/slide" Target="/ppt/slides/slide2.xml" Id="R3f568837008b47fc" /><Relationship Type="http://schemas.openxmlformats.org/officeDocument/2006/relationships/slide" Target="/ppt/slides/slide3.xml" Id="Rb742d4ef715c41e2" /><Relationship Type="http://schemas.openxmlformats.org/officeDocument/2006/relationships/slide" Target="/ppt/slides/slide4.xml" Id="R380e8f76c5104a26" /><Relationship Type="http://schemas.openxmlformats.org/officeDocument/2006/relationships/slide" Target="/ppt/slides/slide5.xml" Id="R23e81c85ab6948bf" /><Relationship Type="http://schemas.openxmlformats.org/officeDocument/2006/relationships/slide" Target="/ppt/slides/slide6.xml" Id="Rf5e9ff63aa8b4222" /><Relationship Type="http://schemas.openxmlformats.org/officeDocument/2006/relationships/slide" Target="/ppt/slides/slide7.xml" Id="Rac60083f316c4f4e" /><Relationship Type="http://schemas.openxmlformats.org/officeDocument/2006/relationships/slide" Target="/ppt/slides/slide8.xml" Id="R2b8e5d3729244215" /><Relationship Type="http://schemas.openxmlformats.org/officeDocument/2006/relationships/slide" Target="/ppt/slides/slide9.xml" Id="R594b0c47e45844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b75280e5a24f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bb702b60d1497e" /><Relationship Type="http://schemas.openxmlformats.org/officeDocument/2006/relationships/notesMaster" Target="/ppt/notesMasters/notesMaster1.xml" Id="R28b5f9ca512749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fcf5da3c624477" /><Relationship Type="http://schemas.openxmlformats.org/officeDocument/2006/relationships/notesMaster" Target="/ppt/notesMasters/notesMaster1.xml" Id="R0c9ac39d081141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a96b98772f4a17" /><Relationship Type="http://schemas.openxmlformats.org/officeDocument/2006/relationships/notesMaster" Target="/ppt/notesMasters/notesMaster1.xml" Id="Rb7b182163ca443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9b19c84fbf4969" /><Relationship Type="http://schemas.openxmlformats.org/officeDocument/2006/relationships/notesMaster" Target="/ppt/notesMasters/notesMaster1.xml" Id="R648ea43d2cd548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7367aeb1204894" /><Relationship Type="http://schemas.openxmlformats.org/officeDocument/2006/relationships/notesMaster" Target="/ppt/notesMasters/notesMaster1.xml" Id="Rd1d508ab3ade40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b83132975c471d" /><Relationship Type="http://schemas.openxmlformats.org/officeDocument/2006/relationships/notesMaster" Target="/ppt/notesMasters/notesMaster1.xml" Id="Rbdf38ac7bea24f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1542622b954453" /><Relationship Type="http://schemas.openxmlformats.org/officeDocument/2006/relationships/notesMaster" Target="/ppt/notesMasters/notesMaster1.xml" Id="Rb663db08f9ec44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b5a0d42a0c441e" /><Relationship Type="http://schemas.openxmlformats.org/officeDocument/2006/relationships/notesMaster" Target="/ppt/notesMasters/notesMaster1.xml" Id="R9ec4153cdb174a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6ada4bc4e3405d" /><Relationship Type="http://schemas.openxmlformats.org/officeDocument/2006/relationships/notesMaster" Target="/ppt/notesMasters/notesMaster1.xml" Id="Rde2f465c20ac41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docs/images/screenshots/01-dashboard.png</a:t>
            </a:r>
          </a:p>
          <a:p xmlns:a="http://schemas.openxmlformats.org/drawingml/2006/main">
            <a:r>
              <a:t>Project facts: README.md; docs/releases/v1.0.0.md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workflow and scope: README.md; docs/requirements.md; docs/business-rules.md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Implemented invariants: docs/domain-model.md; docs/business-rules.md; docs/decisions/README.md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Architecture implementation: docs/architecture.md; project references in src/*.csproj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docs/images/screenshots/01-dashboard.png</a:t>
            </a:r>
          </a:p>
          <a:p xmlns:a="http://schemas.openxmlformats.org/drawingml/2006/main">
            <a:r>
              <a:t>Dashboard behavior: docs/case-study.md; docs/testing-strategy.md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docs/images/screenshots/02-quote-editor.png</a:t>
            </a:r>
          </a:p>
          <a:p xmlns:a="http://schemas.openxmlformats.org/drawingml/2006/main">
            <a:r>
              <a:t>Lifecycle and conversion rules: docs/domain-model.md; docs/business-rules.md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docs/images/screenshots/03-invoice-pdf.png</a:t>
            </a:r>
          </a:p>
          <a:p xmlns:a="http://schemas.openxmlformats.org/drawingml/2006/main">
            <a:r>
              <a:t>Snapshot and PDF rules: docs/business-rules.md; ADR-0005; ADR-0009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Verification evidence: docs/releases/v1.0.0.md; docs/milestone-reports/m7-completion.md; docs/testing-strategy.md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summary: README.md; docs/case-study.md; docs/releases/v1.0.0.md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c556df83d84c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77719f029e468b" /><Relationship Type="http://schemas.openxmlformats.org/officeDocument/2006/relationships/slideLayout" Target="/ppt/slideLayouts/slideLayout1.xml" Id="Rb00d935b5b3b4a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0d935b5b3b4a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90a1e83b54903" /><Relationship Type="http://schemas.openxmlformats.org/officeDocument/2006/relationships/image" Target="/ppt/media/image.png" Id="Re40b6ead7c944553" /><Relationship Type="http://schemas.openxmlformats.org/officeDocument/2006/relationships/notesSlide" Target="/ppt/notesSlides/notesSlide1.xml" Id="R3d72ef84ae4f46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81660886d4768" /><Relationship Type="http://schemas.openxmlformats.org/officeDocument/2006/relationships/notesSlide" Target="/ppt/notesSlides/notesSlide2.xml" Id="R9535ff35a07f44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18b850e2c4623" /><Relationship Type="http://schemas.openxmlformats.org/officeDocument/2006/relationships/notesSlide" Target="/ppt/notesSlides/notesSlide3.xml" Id="R4e7d53d3a48943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ea3dcf2254227" /><Relationship Type="http://schemas.openxmlformats.org/officeDocument/2006/relationships/notesSlide" Target="/ppt/notesSlides/notesSlide4.xml" Id="R089f4405e66e43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305e3dc71493f" /><Relationship Type="http://schemas.openxmlformats.org/officeDocument/2006/relationships/image" Target="/ppt/media/image2.png" Id="Rdffdb0cb5df44c71" /><Relationship Type="http://schemas.openxmlformats.org/officeDocument/2006/relationships/notesSlide" Target="/ppt/notesSlides/notesSlide5.xml" Id="R912b0e02190646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8cbbb126e4568" /><Relationship Type="http://schemas.openxmlformats.org/officeDocument/2006/relationships/image" Target="/ppt/media/image3.png" Id="Re4f391d47fa949eb" /><Relationship Type="http://schemas.openxmlformats.org/officeDocument/2006/relationships/notesSlide" Target="/ppt/notesSlides/notesSlide6.xml" Id="Rb103b4f4e689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a5498ef1d241c2" /><Relationship Type="http://schemas.openxmlformats.org/officeDocument/2006/relationships/image" Target="/ppt/media/image4.png" Id="R3a8c9540872a42bc" /><Relationship Type="http://schemas.openxmlformats.org/officeDocument/2006/relationships/notesSlide" Target="/ppt/notesSlides/notesSlide7.xml" Id="Rfd6a0bf9c54e4a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fd2e2c5b84b23" /><Relationship Type="http://schemas.openxmlformats.org/officeDocument/2006/relationships/notesSlide" Target="/ppt/notesSlides/notesSlide8.xml" Id="Rbc05693cab6a45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64a7e82a64517" /><Relationship Type="http://schemas.openxmlformats.org/officeDocument/2006/relationships/notesSlide" Target="/ppt/notesSlides/notesSlide9.xml" Id="Rea9ff935b30c4fb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5478762-BA54-49DB-83E9-4294B9CA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01  /  PRODUCT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74460B0-6236-443A-A16B-76544434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1445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202428"/>
                </a:solidFill>
              </a:defRPr>
            </a:pPr>
            <a:r>
              <a:rPr sz="4200" b="1">
                <a:solidFill>
                  <a:srgbClr val="202428"/>
                </a:solidFill>
              </a:rPr>
              <a:t>Invoice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202428"/>
                </a:solidFill>
              </a:defRPr>
            </a:pPr>
            <a:r>
              <a:rPr sz="4200" b="1">
                <a:solidFill>
                  <a:srgbClr val="202428"/>
                </a:solidFill>
              </a:rPr>
              <a:t>Manager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41D65AA-A9F2-4329-9DC0-3F925A70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56B70"/>
                </a:solidFill>
              </a:defRPr>
            </a:pPr>
            <a:r>
              <a:rPr sz="1800" b="0">
                <a:solidFill>
                  <a:srgbClr val="656B70"/>
                </a:solidFill>
              </a:rPr>
              <a:t>Local-first quotation and invoicing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56B70"/>
                </a:solidFill>
              </a:defRPr>
            </a:pPr>
            <a:r>
              <a:rPr sz="1800" b="0">
                <a:solidFill>
                  <a:srgbClr val="656B70"/>
                </a:solidFill>
              </a:rPr>
              <a:t>application for Windows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A8472-E2BB-4EF1-BAE8-A813E579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5" name="cover-stack">
            <a:extLst xmlns:a="http://schemas.openxmlformats.org/drawingml/2006/main">
              <a:ext uri="{FF2B5EF4-FFF2-40B4-BE49-F238E27FC236}">
                <a16:creationId xmlns:a16="http://schemas.microsoft.com/office/drawing/2014/main" id="{BE7CCED1-352F-423C-AFD4-AAE84FC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428"/>
                </a:solidFill>
              </a:defRPr>
            </a:pPr>
            <a:r>
              <a:rPr sz="1350" b="1">
                <a:solidFill>
                  <a:srgbClr val="202428"/>
                </a:solidFill>
              </a:rPr>
              <a:t>.NET 10  ·  WPF  ·  Clean Architecture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202428"/>
                </a:solidFill>
              </a:defRPr>
            </a:pPr>
            <a:r>
              <a:rPr sz="1350" b="1">
                <a:solidFill>
                  <a:srgbClr val="202428"/>
                </a:solidFill>
              </a:rPr>
              <a:t>EF Core  ·  SQLite</a:t>
            </a:r>
          </a:p>
        </p:txBody>
      </p:sp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772C773E-458C-4439-AB8F-75153661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53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56B70"/>
                </a:solidFill>
              </a:defRPr>
            </a:pPr>
            <a:r>
              <a:rPr sz="1050" b="0">
                <a:solidFill>
                  <a:srgbClr val="656B70"/>
                </a:solidFill>
              </a:rPr>
              <a:t>Portfolio project  ·  v1.0.0</a:t>
            </a:r>
          </a:p>
        </p:txBody>
      </p:sp>
      <p:sp>
        <p:nvSpPr>
          <p:cNvPr id="7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9EA2EFA-0FE2-4A18-82A6-F4238512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723900"/>
            <a:ext cx="63817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b6ead7c944553"/>
          <a:stretch xmlns:a="http://schemas.openxmlformats.org/drawingml/2006/main"/>
        </p:blipFill>
        <p:spPr>
          <a:xfrm xmlns:a="http://schemas.openxmlformats.org/drawingml/2006/main">
            <a:off x="5314950" y="1215953"/>
            <a:ext cx="6076950" cy="2273443"/>
          </a:xfrm>
          <a:prstGeom xmlns:a="http://schemas.openxmlformats.org/drawingml/2006/main" prst="rect">
            <a:avLst/>
          </a:prstGeom>
        </p:spPr>
      </p:pic>
      <p:sp>
        <p:nvSpPr>
          <p:cNvPr id="9" name="cover-tests-number">
            <a:extLst xmlns:a="http://schemas.openxmlformats.org/drawingml/2006/main">
              <a:ext uri="{FF2B5EF4-FFF2-40B4-BE49-F238E27FC236}">
                <a16:creationId xmlns:a16="http://schemas.microsoft.com/office/drawing/2014/main" id="{8AFE1DD7-4913-422F-87F0-ECBEC746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533900"/>
            <a:ext cx="104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45995"/>
                </a:solidFill>
              </a:defRPr>
            </a:pPr>
            <a:r>
              <a:rPr sz="3000" b="1">
                <a:solidFill>
                  <a:srgbClr val="345995"/>
                </a:solidFill>
              </a:rPr>
              <a:t>97</a:t>
            </a:r>
          </a:p>
        </p:txBody>
      </p:sp>
      <p:sp>
        <p:nvSpPr>
          <p:cNvPr id="10" name="cover-tests-label">
            <a:extLst xmlns:a="http://schemas.openxmlformats.org/drawingml/2006/main">
              <a:ext uri="{FF2B5EF4-FFF2-40B4-BE49-F238E27FC236}">
                <a16:creationId xmlns:a16="http://schemas.microsoft.com/office/drawing/2014/main" id="{8D090A95-4CDE-4C5A-AF3A-FD33E0F7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1054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automated tests</a:t>
            </a:r>
          </a:p>
        </p:txBody>
      </p:sp>
      <p:sp>
        <p:nvSpPr>
          <p:cNvPr id="11" name="cover-warnings-number">
            <a:extLst xmlns:a="http://schemas.openxmlformats.org/drawingml/2006/main">
              <a:ext uri="{FF2B5EF4-FFF2-40B4-BE49-F238E27FC236}">
                <a16:creationId xmlns:a16="http://schemas.microsoft.com/office/drawing/2014/main" id="{B995DB34-ED4B-401D-A5FA-D4E73FA5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33900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428"/>
                </a:solidFill>
              </a:defRPr>
            </a:pPr>
            <a:r>
              <a:rPr sz="30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2" name="cover-warnings-label">
            <a:extLst xmlns:a="http://schemas.openxmlformats.org/drawingml/2006/main">
              <a:ext uri="{FF2B5EF4-FFF2-40B4-BE49-F238E27FC236}">
                <a16:creationId xmlns:a16="http://schemas.microsoft.com/office/drawing/2014/main" id="{F548B7F9-9468-47BE-A9F5-A7FAE344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054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build warnings</a:t>
            </a:r>
          </a:p>
        </p:txBody>
      </p:sp>
      <p:sp>
        <p:nvSpPr>
          <p:cNvPr id="13" name="cover-package">
            <a:extLst xmlns:a="http://schemas.openxmlformats.org/drawingml/2006/main">
              <a:ext uri="{FF2B5EF4-FFF2-40B4-BE49-F238E27FC236}">
                <a16:creationId xmlns:a16="http://schemas.microsoft.com/office/drawing/2014/main" id="{0258D5FA-E007-4A86-93D0-B8D00F3D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482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F6B58"/>
                </a:solidFill>
              </a:defRPr>
            </a:pPr>
            <a:r>
              <a:rPr sz="1950" b="1">
                <a:solidFill>
                  <a:srgbClr val="3F6B58"/>
                </a:solidFill>
              </a:rPr>
              <a:t>win-x64</a:t>
            </a:r>
          </a:p>
        </p:txBody>
      </p:sp>
      <p:sp>
        <p:nvSpPr>
          <p:cNvPr id="14" name="cover-package-label">
            <a:extLst xmlns:a="http://schemas.openxmlformats.org/drawingml/2006/main">
              <a:ext uri="{FF2B5EF4-FFF2-40B4-BE49-F238E27FC236}">
                <a16:creationId xmlns:a16="http://schemas.microsoft.com/office/drawing/2014/main" id="{A4C5387E-D852-418C-BE0B-6BE3C625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1054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self-contained</a:t>
            </a:r>
          </a:p>
        </p:txBody>
      </p:sp>
    </p:spTree>
    <p:extLst>
      <p:ext uri="{BB962C8B-B14F-4D97-AF65-F5344CB8AC3E}">
        <p14:creationId xmlns:p14="http://schemas.microsoft.com/office/powerpoint/2010/main" val="866214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2">
            <a:extLst xmlns:a="http://schemas.openxmlformats.org/drawingml/2006/main">
              <a:ext uri="{FF2B5EF4-FFF2-40B4-BE49-F238E27FC236}">
                <a16:creationId xmlns:a16="http://schemas.microsoft.com/office/drawing/2014/main" id="{6FEF2BEF-C72D-4457-B28D-81FBA550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E61516F-A39F-4B78-897F-6E0637A9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One workflow from company setup to reporting</a:t>
            </a:r>
          </a:p>
        </p:txBody>
      </p:sp>
      <p:sp>
        <p:nvSpPr>
          <p:cNvPr id="3" name="subtitle-2">
            <a:extLst xmlns:a="http://schemas.openxmlformats.org/drawingml/2006/main">
              <a:ext uri="{FF2B5EF4-FFF2-40B4-BE49-F238E27FC236}">
                <a16:creationId xmlns:a16="http://schemas.microsoft.com/office/drawing/2014/main" id="{85D35866-B48C-442A-ADAC-1AC065E9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A focused product boundary for freelancers and small businesses.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E0F87-A36C-43D4-A859-79D7A0D5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A62410B8-1647-4BF2-8B4E-961F0B72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BD5693FE-FB8B-42F4-BB01-635553DA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DE6C5-14E6-492F-B082-6EB91D44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8" name="stage-marker-0">
            <a:extLst xmlns:a="http://schemas.openxmlformats.org/drawingml/2006/main">
              <a:ext uri="{FF2B5EF4-FFF2-40B4-BE49-F238E27FC236}">
                <a16:creationId xmlns:a16="http://schemas.microsoft.com/office/drawing/2014/main" id="{1C726E71-BB7B-4CAB-ABA2-6FCAA507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22170797-307B-4A9C-8170-30DC9B39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01</a:t>
            </a:r>
          </a:p>
        </p:txBody>
      </p:sp>
      <p:sp>
        <p:nvSpPr>
          <p:cNvPr id="10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196A6430-D26B-4950-ACC5-C223D064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Company</a:t>
            </a:r>
          </a:p>
        </p:txBody>
      </p:sp>
      <p:sp>
        <p:nvSpPr>
          <p:cNvPr id="11" name="stage-body-0">
            <a:extLst xmlns:a="http://schemas.openxmlformats.org/drawingml/2006/main">
              <a:ext uri="{FF2B5EF4-FFF2-40B4-BE49-F238E27FC236}">
                <a16:creationId xmlns:a16="http://schemas.microsoft.com/office/drawing/2014/main" id="{E5F6E2B1-C6AB-4E5D-9DA1-55D8A810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Profile + defaults</a:t>
            </a:r>
          </a:p>
        </p:txBody>
      </p:sp>
      <p:sp>
        <p:nvSpPr>
          <p:cNvPr id="12" name="stage-marker-1">
            <a:extLst xmlns:a="http://schemas.openxmlformats.org/drawingml/2006/main">
              <a:ext uri="{FF2B5EF4-FFF2-40B4-BE49-F238E27FC236}">
                <a16:creationId xmlns:a16="http://schemas.microsoft.com/office/drawing/2014/main" id="{0AA9BEB1-F011-4A1E-8FA6-CD6F63A3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A89BE51E-FA57-4A14-B256-55AC5E0B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700CD86E-16EF-4B83-9AB0-50521215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Quote</a:t>
            </a:r>
          </a:p>
        </p:txBody>
      </p:sp>
      <p:sp>
        <p:nvSpPr>
          <p:cNvPr id="15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A68C44E7-8960-452A-81E9-548FD446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Snapshots + VAT</a:t>
            </a:r>
          </a:p>
        </p:txBody>
      </p:sp>
      <p:sp>
        <p:nvSpPr>
          <p:cNvPr id="16" name="stage-marker-2">
            <a:extLst xmlns:a="http://schemas.openxmlformats.org/drawingml/2006/main">
              <a:ext uri="{FF2B5EF4-FFF2-40B4-BE49-F238E27FC236}">
                <a16:creationId xmlns:a16="http://schemas.microsoft.com/office/drawing/2014/main" id="{1A58DD09-54F7-482D-B37B-9E49F0E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C21405F5-2EF3-45CA-A745-979EE26C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18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C10EA929-8A57-4574-9886-853383F6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Invoice</a:t>
            </a:r>
          </a:p>
        </p:txBody>
      </p:sp>
      <p:sp>
        <p:nvSpPr>
          <p:cNvPr id="19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5FF075FF-5607-4A30-B066-B628C5A9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Atomic numbering</a:t>
            </a:r>
          </a:p>
        </p:txBody>
      </p:sp>
      <p:sp>
        <p:nvSpPr>
          <p:cNvPr id="20" name="stage-marker-3">
            <a:extLst xmlns:a="http://schemas.openxmlformats.org/drawingml/2006/main">
              <a:ext uri="{FF2B5EF4-FFF2-40B4-BE49-F238E27FC236}">
                <a16:creationId xmlns:a16="http://schemas.microsoft.com/office/drawing/2014/main" id="{BEC23F66-162F-464C-B455-5702241E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5463B29C-2460-476D-B252-C8521CBE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2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1259C840-350C-498F-A73F-6046B32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Payment</a:t>
            </a:r>
          </a:p>
        </p:txBody>
      </p:sp>
      <p:sp>
        <p:nvSpPr>
          <p:cNvPr id="23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110A87D6-9042-427B-8293-A537D5F7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Partial/full + voiding</a:t>
            </a:r>
          </a:p>
        </p:txBody>
      </p:sp>
      <p:sp>
        <p:nvSpPr>
          <p:cNvPr id="24" name="stage-marker-4">
            <a:extLst xmlns:a="http://schemas.openxmlformats.org/drawingml/2006/main">
              <a:ext uri="{FF2B5EF4-FFF2-40B4-BE49-F238E27FC236}">
                <a16:creationId xmlns:a16="http://schemas.microsoft.com/office/drawing/2014/main" id="{BAA12650-F546-4D0C-998C-3ED602FD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A6F46C87-0320-4F30-A282-883A82F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05</a:t>
            </a:r>
          </a:p>
        </p:txBody>
      </p:sp>
      <p:sp>
        <p:nvSpPr>
          <p:cNvPr id="26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9AA9740F-F988-48E9-8EF7-60C832D5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Reporting</a:t>
            </a:r>
          </a:p>
        </p:txBody>
      </p:sp>
      <p:sp>
        <p:nvSpPr>
          <p:cNvPr id="27" name="stage-body-4">
            <a:extLst xmlns:a="http://schemas.openxmlformats.org/drawingml/2006/main">
              <a:ext uri="{FF2B5EF4-FFF2-40B4-BE49-F238E27FC236}">
                <a16:creationId xmlns:a16="http://schemas.microsoft.com/office/drawing/2014/main" id="{FD8126C3-B4C9-4642-AB22-6ADDC2C0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Derived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2E448F-D126-4BBD-98D7-A8CCF714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29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4EF29A4E-8CE0-4E00-B771-35AE830B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Local-first  ·  EUR  ·  SQLite  ·  no cloud account required</a:t>
            </a:r>
          </a:p>
        </p:txBody>
      </p:sp>
    </p:spTree>
    <p:extLst>
      <p:ext uri="{BB962C8B-B14F-4D97-AF65-F5344CB8AC3E}">
        <p14:creationId xmlns:p14="http://schemas.microsoft.com/office/powerpoint/2010/main" val="2121368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3">
            <a:extLst xmlns:a="http://schemas.openxmlformats.org/drawingml/2006/main">
              <a:ext uri="{FF2B5EF4-FFF2-40B4-BE49-F238E27FC236}">
                <a16:creationId xmlns:a16="http://schemas.microsoft.com/office/drawing/2014/main" id="{166FA99B-93DA-4D2C-996D-EBD980E0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8774C286-6DFA-4F4A-9B71-81A2E4D7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difficult work is preserving business truth</a:t>
            </a:r>
          </a:p>
        </p:txBody>
      </p:sp>
      <p:sp>
        <p:nvSpPr>
          <p:cNvPr id="3" name="subtitle-3">
            <a:extLst xmlns:a="http://schemas.openxmlformats.org/drawingml/2006/main">
              <a:ext uri="{FF2B5EF4-FFF2-40B4-BE49-F238E27FC236}">
                <a16:creationId xmlns:a16="http://schemas.microsoft.com/office/drawing/2014/main" id="{714BA8F8-7A83-4087-BFCF-D4912635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Four invariants turn a CRUD workflow into dependable software.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B1ECE-29F1-4D29-A80F-1CD5384B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05131104-A6EA-45C2-A906-C5E1AEA4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22BFCBBF-BFDB-493C-ADD9-979219F5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03</a:t>
            </a:r>
          </a:p>
        </p:txBody>
      </p:sp>
      <p:sp>
        <p:nvSpPr>
          <p:cNvPr id="7" name="challenge-number-0">
            <a:extLst xmlns:a="http://schemas.openxmlformats.org/drawingml/2006/main">
              <a:ext uri="{FF2B5EF4-FFF2-40B4-BE49-F238E27FC236}">
                <a16:creationId xmlns:a16="http://schemas.microsoft.com/office/drawing/2014/main" id="{05DF1378-DD97-4D99-ABB2-7B4DC9E4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01</a:t>
            </a:r>
          </a:p>
        </p:txBody>
      </p:sp>
      <p:sp>
        <p:nvSpPr>
          <p:cNvPr id="8" name="challenge-title-0">
            <a:extLst xmlns:a="http://schemas.openxmlformats.org/drawingml/2006/main">
              <a:ext uri="{FF2B5EF4-FFF2-40B4-BE49-F238E27FC236}">
                <a16:creationId xmlns:a16="http://schemas.microsoft.com/office/drawing/2014/main" id="{35839DCE-88FB-43B5-8F10-4B2DC62D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Historical documents</a:t>
            </a:r>
          </a:p>
        </p:txBody>
      </p:sp>
      <p:sp>
        <p:nvSpPr>
          <p:cNvPr id="9" name="challenge-body-0">
            <a:extLst xmlns:a="http://schemas.openxmlformats.org/drawingml/2006/main">
              <a:ext uri="{FF2B5EF4-FFF2-40B4-BE49-F238E27FC236}">
                <a16:creationId xmlns:a16="http://schemas.microsoft.com/office/drawing/2014/main" id="{CBC4890D-40A0-43E9-BA14-D5055F5A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Issuer, customer, line and logo snapshots keep issued output reproducible.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C4B0C-7A54-4E2B-9ADD-6AEBC45E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1" name="challenge-number-1">
            <a:extLst xmlns:a="http://schemas.openxmlformats.org/drawingml/2006/main">
              <a:ext uri="{FF2B5EF4-FFF2-40B4-BE49-F238E27FC236}">
                <a16:creationId xmlns:a16="http://schemas.microsoft.com/office/drawing/2014/main" id="{2DC74AB6-745E-49F4-A87B-E4C10543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47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12" name="challenge-title-1">
            <a:extLst xmlns:a="http://schemas.openxmlformats.org/drawingml/2006/main">
              <a:ext uri="{FF2B5EF4-FFF2-40B4-BE49-F238E27FC236}">
                <a16:creationId xmlns:a16="http://schemas.microsoft.com/office/drawing/2014/main" id="{DEF70F54-55CD-47D3-9B81-99740709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Transactional numbering</a:t>
            </a:r>
          </a:p>
        </p:txBody>
      </p:sp>
      <p:sp>
        <p:nvSpPr>
          <p:cNvPr id="13" name="challenge-body-1">
            <a:extLst xmlns:a="http://schemas.openxmlformats.org/drawingml/2006/main">
              <a:ext uri="{FF2B5EF4-FFF2-40B4-BE49-F238E27FC236}">
                <a16:creationId xmlns:a16="http://schemas.microsoft.com/office/drawing/2014/main" id="{A3F979FC-D9D9-4EFF-AAB0-B3EF6580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Numbers are allocated on first persistent save and protected by constraints.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C7770-B0AE-4C6E-967D-B6ED09B2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810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5" name="challenge-number-2">
            <a:extLst xmlns:a="http://schemas.openxmlformats.org/drawingml/2006/main">
              <a:ext uri="{FF2B5EF4-FFF2-40B4-BE49-F238E27FC236}">
                <a16:creationId xmlns:a16="http://schemas.microsoft.com/office/drawing/2014/main" id="{66826E57-5303-46F9-B3D2-A083A3DC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16" name="challenge-title-2">
            <a:extLst xmlns:a="http://schemas.openxmlformats.org/drawingml/2006/main">
              <a:ext uri="{FF2B5EF4-FFF2-40B4-BE49-F238E27FC236}">
                <a16:creationId xmlns:a16="http://schemas.microsoft.com/office/drawing/2014/main" id="{EAE09880-BD8A-4BAB-8BFF-6CA9BB2C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14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Auditable payments</a:t>
            </a:r>
          </a:p>
        </p:txBody>
      </p:sp>
      <p:sp>
        <p:nvSpPr>
          <p:cNvPr id="17" name="challenge-body-2">
            <a:extLst xmlns:a="http://schemas.openxmlformats.org/drawingml/2006/main">
              <a:ext uri="{FF2B5EF4-FFF2-40B4-BE49-F238E27FC236}">
                <a16:creationId xmlns:a16="http://schemas.microsoft.com/office/drawing/2014/main" id="{B503B6D8-669E-4D19-B83D-8292457C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Immutable transactions use one-time voiding instead of rewriting history.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F6CC6-4AD4-4ADB-A859-A5F375BC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challenge-number-3">
            <a:extLst xmlns:a="http://schemas.openxmlformats.org/drawingml/2006/main">
              <a:ext uri="{FF2B5EF4-FFF2-40B4-BE49-F238E27FC236}">
                <a16:creationId xmlns:a16="http://schemas.microsoft.com/office/drawing/2014/main" id="{E93E49E5-95EB-46FC-A92C-EFD1523F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152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0" name="challenge-title-3">
            <a:extLst xmlns:a="http://schemas.openxmlformats.org/drawingml/2006/main">
              <a:ext uri="{FF2B5EF4-FFF2-40B4-BE49-F238E27FC236}">
                <a16:creationId xmlns:a16="http://schemas.microsoft.com/office/drawing/2014/main" id="{4DCFE5AD-8239-4262-9067-986395D8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114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Deterministic time</a:t>
            </a:r>
          </a:p>
        </p:txBody>
      </p:sp>
      <p:sp>
        <p:nvSpPr>
          <p:cNvPr id="21" name="challenge-body-3">
            <a:extLst xmlns:a="http://schemas.openxmlformats.org/drawingml/2006/main">
              <a:ext uri="{FF2B5EF4-FFF2-40B4-BE49-F238E27FC236}">
                <a16:creationId xmlns:a16="http://schemas.microsoft.com/office/drawing/2014/main" id="{32F0BBAF-D607-4AF1-9F8B-6E3E3936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19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Business dates and UTC audit instants are separated behind an injected clock.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A9EC16-4140-445A-A8E2-40702174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715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90224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4">
            <a:extLst xmlns:a="http://schemas.openxmlformats.org/drawingml/2006/main">
              <a:ext uri="{FF2B5EF4-FFF2-40B4-BE49-F238E27FC236}">
                <a16:creationId xmlns:a16="http://schemas.microsoft.com/office/drawing/2014/main" id="{8277F034-D1CB-485D-ABE4-F19914DF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4F29D6B-C4BF-4329-BEBB-3537F882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Dependencies point toward the domain</a:t>
            </a:r>
          </a:p>
        </p:txBody>
      </p:sp>
      <p:sp>
        <p:nvSpPr>
          <p:cNvPr id="3" name="subtitle-4">
            <a:extLst xmlns:a="http://schemas.openxmlformats.org/drawingml/2006/main">
              <a:ext uri="{FF2B5EF4-FFF2-40B4-BE49-F238E27FC236}">
                <a16:creationId xmlns:a16="http://schemas.microsoft.com/office/drawing/2014/main" id="{8B300345-40C2-4090-89A0-489BA67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Infrastructure implements ports; WPF remains a replaceable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13911-F335-4257-B12F-C6F58D4C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181695D1-993A-4E5B-97CA-B33D511A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8DA937F1-D374-4FC1-B53C-16899163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CE0BC-2464-4FC4-AEB0-20B5E45E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6B7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C32DA-54C4-45BE-9B2E-3A8B4502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6B70"/>
            </a:solidFill>
            <a:prstDash val="solid"/>
          </a:ln>
        </p:spPr>
      </p:sp>
      <p:sp>
        <p:nvSpPr>
          <p:cNvPr id="9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AF482E79-74C9-4124-AA27-6DD99E97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2762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0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E0CEA0DA-6BCE-4520-8123-1E4151F2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2305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56B70"/>
                </a:solidFill>
              </a:defRPr>
            </a:pPr>
            <a:r>
              <a:rPr sz="1350" b="1">
                <a:solidFill>
                  <a:srgbClr val="656B70"/>
                </a:solidFill>
              </a:rPr>
              <a:t>APP  →</a:t>
            </a:r>
          </a:p>
        </p:txBody>
      </p:sp>
      <p:sp>
        <p:nvSpPr>
          <p:cNvPr id="11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D9E4EA5D-955F-4542-96F0-7B7E45F1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WPF · MVVM · Navigation</a:t>
            </a:r>
          </a:p>
        </p:txBody>
      </p:sp>
      <p:sp>
        <p:nvSpPr>
          <p:cNvPr id="12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880A71DD-D4C3-4D35-98FD-0369F1C6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90800"/>
            <a:ext cx="3143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3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E9D23A44-D280-4A70-ACAC-2FD0B68F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57500"/>
            <a:ext cx="2686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56B70"/>
                </a:solidFill>
              </a:defRPr>
            </a:pPr>
            <a:r>
              <a:rPr sz="1350" b="1">
                <a:solidFill>
                  <a:srgbClr val="656B70"/>
                </a:solidFill>
              </a:rPr>
              <a:t>APPLICATION  →</a:t>
            </a:r>
          </a:p>
        </p:txBody>
      </p:sp>
      <p:sp>
        <p:nvSpPr>
          <p:cNvPr id="14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1831D8CE-75EE-41C6-81D7-323C7BA4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71850"/>
            <a:ext cx="2686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Use cases · Ports · Orchestration</a:t>
            </a:r>
          </a:p>
        </p:txBody>
      </p:sp>
      <p:sp>
        <p:nvSpPr>
          <p:cNvPr id="15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1BAB574F-136C-4902-BBF5-849A7CC4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90800"/>
            <a:ext cx="2571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345995"/>
            </a:solidFill>
            <a:prstDash val="solid"/>
          </a:ln>
        </p:spPr>
      </p:sp>
      <p:sp>
        <p:nvSpPr>
          <p:cNvPr id="16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59E9F14D-3B1C-46B6-B665-69348E37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57500"/>
            <a:ext cx="2114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DOMAIN</a:t>
            </a:r>
          </a:p>
        </p:txBody>
      </p:sp>
      <p:sp>
        <p:nvSpPr>
          <p:cNvPr id="17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6BF88EEF-DBFF-4A62-84BB-BAE0C50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7185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Entities · Snapshots · Business rules</a:t>
            </a:r>
          </a:p>
        </p:txBody>
      </p:sp>
      <p:sp>
        <p:nvSpPr>
          <p:cNvPr id="18" name="infra-band">
            <a:extLst xmlns:a="http://schemas.openxmlformats.org/drawingml/2006/main">
              <a:ext uri="{FF2B5EF4-FFF2-40B4-BE49-F238E27FC236}">
                <a16:creationId xmlns:a16="http://schemas.microsoft.com/office/drawing/2014/main" id="{0AF8FEC4-CDA0-4056-BA00-60BE544C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62500"/>
            <a:ext cx="6800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infra-title">
            <a:extLst xmlns:a="http://schemas.openxmlformats.org/drawingml/2006/main">
              <a:ext uri="{FF2B5EF4-FFF2-40B4-BE49-F238E27FC236}">
                <a16:creationId xmlns:a16="http://schemas.microsoft.com/office/drawing/2014/main" id="{65A2B1E1-92AF-4918-BA43-3E3F751E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9149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INFRASTRUCTURE  ·  implements ports ↑ APPLICATION</a:t>
            </a:r>
          </a:p>
        </p:txBody>
      </p:sp>
      <p:sp>
        <p:nvSpPr>
          <p:cNvPr id="20" name="infra-body">
            <a:extLst xmlns:a="http://schemas.openxmlformats.org/drawingml/2006/main">
              <a:ext uri="{FF2B5EF4-FFF2-40B4-BE49-F238E27FC236}">
                <a16:creationId xmlns:a16="http://schemas.microsoft.com/office/drawing/2014/main" id="{23F7DA8A-F4E8-44CF-8161-702C5B54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578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EF Core  ·  SQLite  ·  PDFsharp  ·  File storage</a:t>
            </a:r>
          </a:p>
        </p:txBody>
      </p:sp>
      <p:sp>
        <p:nvSpPr>
          <p:cNvPr id="21" name="architecture-result">
            <a:extLst xmlns:a="http://schemas.openxmlformats.org/drawingml/2006/main">
              <a:ext uri="{FF2B5EF4-FFF2-40B4-BE49-F238E27FC236}">
                <a16:creationId xmlns:a16="http://schemas.microsoft.com/office/drawing/2014/main" id="{131983E6-330A-4F72-B495-2F99B0BF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45995"/>
                </a:solidFill>
              </a:defRPr>
            </a:pPr>
            <a:r>
              <a:rPr sz="1575" b="1">
                <a:solidFill>
                  <a:srgbClr val="345995"/>
                </a:solidFill>
              </a:rPr>
              <a:t>Result: business rules remain testable without WPF or SQLite.</a:t>
            </a:r>
          </a:p>
        </p:txBody>
      </p:sp>
    </p:spTree>
    <p:extLst>
      <p:ext uri="{BB962C8B-B14F-4D97-AF65-F5344CB8AC3E}">
        <p14:creationId xmlns:p14="http://schemas.microsoft.com/office/powerpoint/2010/main" val="13650669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ction-5">
            <a:extLst xmlns:a="http://schemas.openxmlformats.org/drawingml/2006/main">
              <a:ext uri="{FF2B5EF4-FFF2-40B4-BE49-F238E27FC236}">
                <a16:creationId xmlns:a16="http://schemas.microsoft.com/office/drawing/2014/main" id="{BF7BDFAA-AA6D-4499-AED0-39289DD4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05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B0143A4C-FA9E-4EBA-813B-960EDEB4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dashboard is derived from persisted business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B1FDB-F520-485E-86F4-C353D82B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E6DCD011-57A1-4793-A036-C0E3EE17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81DF01B6-CFEA-4779-A51D-12E985B6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05</a:t>
            </a:r>
          </a:p>
        </p:txBody>
      </p:sp>
      <p:sp>
        <p:nvSpPr>
          <p:cNvPr id="6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1DFFBD1C-A638-47CC-96AF-BAB5B614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7715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db0cb5df44c71"/>
          <a:stretch xmlns:a="http://schemas.openxmlformats.org/drawingml/2006/main"/>
        </p:blipFill>
        <p:spPr>
          <a:xfrm xmlns:a="http://schemas.openxmlformats.org/drawingml/2006/main">
            <a:off x="704850" y="2285762"/>
            <a:ext cx="7486650" cy="2800825"/>
          </a:xfrm>
          <a:prstGeom xmlns:a="http://schemas.openxmlformats.org/drawingml/2006/main" prst="rect">
            <a:avLst/>
          </a:prstGeom>
        </p:spPr>
      </p:pic>
      <p:sp>
        <p:nvSpPr>
          <p:cNvPr id="8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370D53D4-BEB6-4F05-8F10-18FD1E03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Payment-based KPIs  ·  balances  ·  recent invoices  ·  12-month chart</a:t>
            </a:r>
          </a:p>
        </p:txBody>
      </p:sp>
      <p:sp>
        <p:nvSpPr>
          <p:cNvPr id="9" name="dashboard-callout-title">
            <a:extLst xmlns:a="http://schemas.openxmlformats.org/drawingml/2006/main">
              <a:ext uri="{FF2B5EF4-FFF2-40B4-BE49-F238E27FC236}">
                <a16:creationId xmlns:a16="http://schemas.microsoft.com/office/drawing/2014/main" id="{8031B5DB-DA32-4868-AC91-DB073570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24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LIVE DASHBOARD</a:t>
            </a:r>
          </a:p>
        </p:txBody>
      </p:sp>
      <p:sp>
        <p:nvSpPr>
          <p:cNvPr id="10" name="dashboard-callouts">
            <a:extLst xmlns:a="http://schemas.openxmlformats.org/drawingml/2006/main">
              <a:ext uri="{FF2B5EF4-FFF2-40B4-BE49-F238E27FC236}">
                <a16:creationId xmlns:a16="http://schemas.microsoft.com/office/drawing/2014/main" id="{708B0C25-8E92-43FB-98A5-ECF3C950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76550"/>
            <a:ext cx="271462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Revenue from active payments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Outstanding and overdue balances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Recent invoices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Zero-filled 12-month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F6083-2278-4268-A043-6BE42839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476875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2" name="dashboard-note">
            <a:extLst xmlns:a="http://schemas.openxmlformats.org/drawingml/2006/main">
              <a:ext uri="{FF2B5EF4-FFF2-40B4-BE49-F238E27FC236}">
                <a16:creationId xmlns:a16="http://schemas.microsoft.com/office/drawing/2014/main" id="{F006052C-96A7-49D3-9723-168F78D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638800"/>
            <a:ext cx="2714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KPIs are calculated from recorded payments and current invoice balances.</a:t>
            </a:r>
          </a:p>
        </p:txBody>
      </p:sp>
    </p:spTree>
    <p:extLst>
      <p:ext uri="{BB962C8B-B14F-4D97-AF65-F5344CB8AC3E}">
        <p14:creationId xmlns:p14="http://schemas.microsoft.com/office/powerpoint/2010/main" val="1250261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ction-6">
            <a:extLst xmlns:a="http://schemas.openxmlformats.org/drawingml/2006/main">
              <a:ext uri="{FF2B5EF4-FFF2-40B4-BE49-F238E27FC236}">
                <a16:creationId xmlns:a16="http://schemas.microsoft.com/office/drawing/2014/main" id="{466838C8-A589-4FE7-9F85-B32A3CD2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06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47498004-D2FE-48FE-844B-B15E32C0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quotation editor captures a stable business snapshot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5366F-DD09-4827-AD53-6EED7290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9FEA694A-3ADC-4039-99E5-315BCB95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A5BE673E-CC9D-41DE-A206-E7DA3881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06</a:t>
            </a:r>
          </a:p>
        </p:txBody>
      </p:sp>
      <p:sp>
        <p:nvSpPr>
          <p:cNvPr id="6" name="quote-frame">
            <a:extLst xmlns:a="http://schemas.openxmlformats.org/drawingml/2006/main">
              <a:ext uri="{FF2B5EF4-FFF2-40B4-BE49-F238E27FC236}">
                <a16:creationId xmlns:a16="http://schemas.microsoft.com/office/drawing/2014/main" id="{B9C358A8-CEF4-4241-826D-7E0A7FA0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7905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391d47fa949eb"/>
          <a:srcRect xmlns:a="http://schemas.openxmlformats.org/drawingml/2006/main" l="12000" t="6000" r="1000" b="1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52650"/>
            <a:ext cx="7677150" cy="4000500"/>
          </a:xfrm>
          <a:prstGeom xmlns:a="http://schemas.openxmlformats.org/drawingml/2006/main" prst="rect">
            <a:avLst/>
          </a:prstGeom>
        </p:spPr>
      </p:pic>
      <p:sp>
        <p:nvSpPr>
          <p:cNvPr id="8" name="quote-callout-title">
            <a:extLst xmlns:a="http://schemas.openxmlformats.org/drawingml/2006/main">
              <a:ext uri="{FF2B5EF4-FFF2-40B4-BE49-F238E27FC236}">
                <a16:creationId xmlns:a16="http://schemas.microsoft.com/office/drawing/2014/main" id="{C187DBC0-22CF-421E-8E18-7A81E9AE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66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QUOTATION WORKFLOW</a:t>
            </a:r>
          </a:p>
        </p:txBody>
      </p:sp>
      <p:sp>
        <p:nvSpPr>
          <p:cNvPr id="9" name="quote-callouts">
            <a:extLst xmlns:a="http://schemas.openxmlformats.org/drawingml/2006/main">
              <a:ext uri="{FF2B5EF4-FFF2-40B4-BE49-F238E27FC236}">
                <a16:creationId xmlns:a16="http://schemas.microsoft.com/office/drawing/2014/main" id="{4787633E-398A-48DD-A867-CE8E6669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00350"/>
            <a:ext cx="2667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Active customer and service selection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Editable line snapshots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Centralized VAT calculation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Draft → Sent → Accepted / Rejected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One-time conversion to Invoice</a:t>
            </a:r>
          </a:p>
        </p:txBody>
      </p:sp>
    </p:spTree>
    <p:extLst>
      <p:ext uri="{BB962C8B-B14F-4D97-AF65-F5344CB8AC3E}">
        <p14:creationId xmlns:p14="http://schemas.microsoft.com/office/powerpoint/2010/main" val="17748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7">
            <a:extLst xmlns:a="http://schemas.openxmlformats.org/drawingml/2006/main">
              <a:ext uri="{FF2B5EF4-FFF2-40B4-BE49-F238E27FC236}">
                <a16:creationId xmlns:a16="http://schemas.microsoft.com/office/drawing/2014/main" id="{DCF4A98B-E8FC-4D32-A936-93B28D1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07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B38E8EA-3AAE-4EEE-BECE-FFC0A1A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Issued documents remain reproducible</a:t>
            </a:r>
          </a:p>
        </p:txBody>
      </p:sp>
      <p:sp>
        <p:nvSpPr>
          <p:cNvPr id="3" name="subtitle-7">
            <a:extLst xmlns:a="http://schemas.openxmlformats.org/drawingml/2006/main">
              <a:ext uri="{FF2B5EF4-FFF2-40B4-BE49-F238E27FC236}">
                <a16:creationId xmlns:a16="http://schemas.microsoft.com/office/drawing/2014/main" id="{B0FE0A23-122E-468D-9092-9B607A07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PDF generation reads persisted snapshots—not mutable source records.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A05BA-3E0B-4471-A4A2-3D2E9341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4BDAD7D5-42F8-49EB-958C-50F5BD71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D1BAF101-D265-48C8-8AFF-91716CD7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07</a:t>
            </a:r>
          </a:p>
        </p:txBody>
      </p:sp>
      <p:sp>
        <p:nvSpPr>
          <p:cNvPr id="7" name="pdf-frame">
            <a:extLst xmlns:a="http://schemas.openxmlformats.org/drawingml/2006/main">
              <a:ext uri="{FF2B5EF4-FFF2-40B4-BE49-F238E27FC236}">
                <a16:creationId xmlns:a16="http://schemas.microsoft.com/office/drawing/2014/main" id="{E56224EA-C96C-4F48-B785-B828DFA0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76250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c9540872a42b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9625" y="2124075"/>
            <a:ext cx="4629150" cy="3952875"/>
          </a:xfrm>
          <a:prstGeom xmlns:a="http://schemas.openxmlformats.org/drawingml/2006/main" prst="rect">
            <a:avLst/>
          </a:prstGeom>
        </p:spPr>
      </p:pic>
      <p:sp>
        <p:nvSpPr>
          <p:cNvPr id="9" name="pdf-question-0">
            <a:extLst xmlns:a="http://schemas.openxmlformats.org/drawingml/2006/main">
              <a:ext uri="{FF2B5EF4-FFF2-40B4-BE49-F238E27FC236}">
                <a16:creationId xmlns:a16="http://schemas.microsoft.com/office/drawing/2014/main" id="{F80F200C-1947-4471-9427-DBF2DFF6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24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Company changed?</a:t>
            </a:r>
          </a:p>
        </p:txBody>
      </p:sp>
      <p:sp>
        <p:nvSpPr>
          <p:cNvPr id="10" name="pdf-answer-0">
            <a:extLst xmlns:a="http://schemas.openxmlformats.org/drawingml/2006/main">
              <a:ext uri="{FF2B5EF4-FFF2-40B4-BE49-F238E27FC236}">
                <a16:creationId xmlns:a16="http://schemas.microsoft.com/office/drawing/2014/main" id="{0328F781-62F7-4ACB-87A4-9EA55E01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14C35-5A77-433B-88C9-4F3E0207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813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2" name="pdf-question-1">
            <a:extLst xmlns:a="http://schemas.openxmlformats.org/drawingml/2006/main">
              <a:ext uri="{FF2B5EF4-FFF2-40B4-BE49-F238E27FC236}">
                <a16:creationId xmlns:a16="http://schemas.microsoft.com/office/drawing/2014/main" id="{963A6829-1068-4DA5-8F2E-AF715A52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Customer moved?</a:t>
            </a:r>
          </a:p>
        </p:txBody>
      </p:sp>
      <p:sp>
        <p:nvSpPr>
          <p:cNvPr id="13" name="pdf-answer-1">
            <a:extLst xmlns:a="http://schemas.openxmlformats.org/drawingml/2006/main">
              <a:ext uri="{FF2B5EF4-FFF2-40B4-BE49-F238E27FC236}">
                <a16:creationId xmlns:a16="http://schemas.microsoft.com/office/drawing/2014/main" id="{197E8528-C547-4F62-82FC-2586ED15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24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BB0FB-EC03-43EF-8161-7F8DD351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5" name="pdf-question-2">
            <a:extLst xmlns:a="http://schemas.openxmlformats.org/drawingml/2006/main">
              <a:ext uri="{FF2B5EF4-FFF2-40B4-BE49-F238E27FC236}">
                <a16:creationId xmlns:a16="http://schemas.microsoft.com/office/drawing/2014/main" id="{CFD50955-D876-4F7B-986C-7ED414F5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24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Service price changed?</a:t>
            </a:r>
          </a:p>
        </p:txBody>
      </p:sp>
      <p:sp>
        <p:nvSpPr>
          <p:cNvPr id="16" name="pdf-answer-2">
            <a:extLst xmlns:a="http://schemas.openxmlformats.org/drawingml/2006/main">
              <a:ext uri="{FF2B5EF4-FFF2-40B4-BE49-F238E27FC236}">
                <a16:creationId xmlns:a16="http://schemas.microsoft.com/office/drawing/2014/main" id="{29A6906E-1878-4B18-9618-2C28F921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24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DA786-B987-4A1C-A7C8-589285CF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815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8" name="pdf-question-3">
            <a:extLst xmlns:a="http://schemas.openxmlformats.org/drawingml/2006/main">
              <a:ext uri="{FF2B5EF4-FFF2-40B4-BE49-F238E27FC236}">
                <a16:creationId xmlns:a16="http://schemas.microsoft.com/office/drawing/2014/main" id="{153C4529-371A-429A-BE3B-BFB8F068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24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Logo changed?</a:t>
            </a:r>
          </a:p>
        </p:txBody>
      </p:sp>
      <p:sp>
        <p:nvSpPr>
          <p:cNvPr id="19" name="pdf-answer-3">
            <a:extLst xmlns:a="http://schemas.openxmlformats.org/drawingml/2006/main">
              <a:ext uri="{FF2B5EF4-FFF2-40B4-BE49-F238E27FC236}">
                <a16:creationId xmlns:a16="http://schemas.microsoft.com/office/drawing/2014/main" id="{587F4075-85D9-4868-B4DA-262BF092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24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C4A21-4646-45F5-B81B-C42AE900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1816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21" name="snapshot-label">
            <a:extLst xmlns:a="http://schemas.openxmlformats.org/drawingml/2006/main">
              <a:ext uri="{FF2B5EF4-FFF2-40B4-BE49-F238E27FC236}">
                <a16:creationId xmlns:a16="http://schemas.microsoft.com/office/drawing/2014/main" id="{3188F277-B883-416B-8C8E-D1123EE4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6197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Snapshot boundary</a:t>
            </a:r>
          </a:p>
        </p:txBody>
      </p:sp>
      <p:sp>
        <p:nvSpPr>
          <p:cNvPr id="22" name="snapshot-values">
            <a:extLst xmlns:a="http://schemas.openxmlformats.org/drawingml/2006/main">
              <a:ext uri="{FF2B5EF4-FFF2-40B4-BE49-F238E27FC236}">
                <a16:creationId xmlns:a16="http://schemas.microsoft.com/office/drawing/2014/main" id="{4C9329D3-D8BA-414A-8470-8E359558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905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02428"/>
                </a:solidFill>
              </a:defRPr>
            </a:pPr>
            <a:r>
              <a:rPr sz="1500" b="0">
                <a:solidFill>
                  <a:srgbClr val="202428"/>
                </a:solidFill>
              </a:rPr>
              <a:t>Issuer  ·  Customer  ·  Items  ·  Logo</a:t>
            </a:r>
          </a:p>
        </p:txBody>
      </p:sp>
    </p:spTree>
    <p:extLst>
      <p:ext uri="{BB962C8B-B14F-4D97-AF65-F5344CB8AC3E}">
        <p14:creationId xmlns:p14="http://schemas.microsoft.com/office/powerpoint/2010/main" val="7555237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8">
            <a:extLst xmlns:a="http://schemas.openxmlformats.org/drawingml/2006/main">
              <a:ext uri="{FF2B5EF4-FFF2-40B4-BE49-F238E27FC236}">
                <a16:creationId xmlns:a16="http://schemas.microsoft.com/office/drawing/2014/main" id="{E251BC70-E3D2-4EA5-81E5-71530CCA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08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900E56-1B43-4828-A31A-0CDA1FCD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Release quality is measurable</a:t>
            </a:r>
          </a:p>
        </p:txBody>
      </p:sp>
      <p:sp>
        <p:nvSpPr>
          <p:cNvPr id="3" name="subtitle-8">
            <a:extLst xmlns:a="http://schemas.openxmlformats.org/drawingml/2006/main">
              <a:ext uri="{FF2B5EF4-FFF2-40B4-BE49-F238E27FC236}">
                <a16:creationId xmlns:a16="http://schemas.microsoft.com/office/drawing/2014/main" id="{0DD97669-E89C-473F-BD69-934E1FD1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The same repository state was verified in a fresh clone.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377C8-8A4C-4E36-8B33-6B69E3A4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AEC0FFEE-5309-4016-969A-6E63B852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4F37CB28-AC65-4B85-85D6-04276927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08</a:t>
            </a:r>
          </a:p>
        </p:txBody>
      </p:sp>
      <p:sp>
        <p:nvSpPr>
          <p:cNvPr id="7" name="metric-number-0">
            <a:extLst xmlns:a="http://schemas.openxmlformats.org/drawingml/2006/main">
              <a:ext uri="{FF2B5EF4-FFF2-40B4-BE49-F238E27FC236}">
                <a16:creationId xmlns:a16="http://schemas.microsoft.com/office/drawing/2014/main" id="{E99FABF8-4F7B-4E2C-8116-0997E076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345995"/>
                </a:solidFill>
              </a:defRPr>
            </a:pPr>
            <a:r>
              <a:rPr sz="5100" b="1">
                <a:solidFill>
                  <a:srgbClr val="345995"/>
                </a:solidFill>
              </a:rPr>
              <a:t>97</a:t>
            </a:r>
          </a:p>
        </p:txBody>
      </p:sp>
      <p:sp>
        <p:nvSpPr>
          <p:cNvPr id="8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DFB5D11A-0C75-4755-AB98-8B03251D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automated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6C63A-2953-4E0E-95A1-4D95C53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0" name="metric-number-1">
            <a:extLst xmlns:a="http://schemas.openxmlformats.org/drawingml/2006/main">
              <a:ext uri="{FF2B5EF4-FFF2-40B4-BE49-F238E27FC236}">
                <a16:creationId xmlns:a16="http://schemas.microsoft.com/office/drawing/2014/main" id="{B20DC796-1941-4EE3-AD9D-E3F09C3C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02428"/>
                </a:solidFill>
              </a:defRPr>
            </a:pPr>
            <a:r>
              <a:rPr sz="51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1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0D1B00A1-9F1E-498F-8F85-E81A2525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build warnings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77DB2-CE32-4FFD-A6A0-99F9FC8A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3" name="metric-number-2">
            <a:extLst xmlns:a="http://schemas.openxmlformats.org/drawingml/2006/main">
              <a:ext uri="{FF2B5EF4-FFF2-40B4-BE49-F238E27FC236}">
                <a16:creationId xmlns:a16="http://schemas.microsoft.com/office/drawing/2014/main" id="{784AE3F3-5446-488F-A093-B4FFC128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02428"/>
                </a:solidFill>
              </a:defRPr>
            </a:pPr>
            <a:r>
              <a:rPr sz="51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4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FB476369-42BF-46DD-A3B8-B76A94E4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build errors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79AA6-4EEE-4519-B05C-14AFCE6A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6" name="metric-number-3">
            <a:extLst xmlns:a="http://schemas.openxmlformats.org/drawingml/2006/main">
              <a:ext uri="{FF2B5EF4-FFF2-40B4-BE49-F238E27FC236}">
                <a16:creationId xmlns:a16="http://schemas.microsoft.com/office/drawing/2014/main" id="{C3C54E94-9BA9-4FDD-9568-5D5AE588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3F6B58"/>
                </a:solidFill>
              </a:defRPr>
            </a:pPr>
            <a:r>
              <a:rPr sz="5100" b="1">
                <a:solidFill>
                  <a:srgbClr val="3F6B58"/>
                </a:solidFill>
              </a:rPr>
              <a:t>0</a:t>
            </a:r>
          </a:p>
        </p:txBody>
      </p:sp>
      <p:sp>
        <p:nvSpPr>
          <p:cNvPr id="17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77AD5E30-F4A8-4ED2-B95D-87751CD5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known vulnerable dependencies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1D4A3-B818-47D6-96AD-605315A3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quality-domain">
            <a:extLst xmlns:a="http://schemas.openxmlformats.org/drawingml/2006/main">
              <a:ext uri="{FF2B5EF4-FFF2-40B4-BE49-F238E27FC236}">
                <a16:creationId xmlns:a16="http://schemas.microsoft.com/office/drawing/2014/main" id="{77D29A16-D8E5-4BF2-81F4-B602EBA2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43 Domain</a:t>
            </a:r>
          </a:p>
        </p:txBody>
      </p:sp>
      <p:sp>
        <p:nvSpPr>
          <p:cNvPr id="20" name="quality-app">
            <a:extLst xmlns:a="http://schemas.openxmlformats.org/drawingml/2006/main">
              <a:ext uri="{FF2B5EF4-FFF2-40B4-BE49-F238E27FC236}">
                <a16:creationId xmlns:a16="http://schemas.microsoft.com/office/drawing/2014/main" id="{E43D036B-7E59-4656-8D7B-64B4E283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29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26 Application</a:t>
            </a:r>
          </a:p>
        </p:txBody>
      </p:sp>
      <p:sp>
        <p:nvSpPr>
          <p:cNvPr id="21" name="quality-infra">
            <a:extLst xmlns:a="http://schemas.openxmlformats.org/drawingml/2006/main">
              <a:ext uri="{FF2B5EF4-FFF2-40B4-BE49-F238E27FC236}">
                <a16:creationId xmlns:a16="http://schemas.microsoft.com/office/drawing/2014/main" id="{70D7F7D4-7576-4914-ACBC-52D48AAB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29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28 Infrastructure</a:t>
            </a:r>
          </a:p>
        </p:txBody>
      </p:sp>
      <p:sp>
        <p:nvSpPr>
          <p:cNvPr id="22" name="quality-ef">
            <a:extLst xmlns:a="http://schemas.openxmlformats.org/drawingml/2006/main">
              <a:ext uri="{FF2B5EF4-FFF2-40B4-BE49-F238E27FC236}">
                <a16:creationId xmlns:a16="http://schemas.microsoft.com/office/drawing/2014/main" id="{87D7F3C5-9DE6-42B7-BC9F-E0304DF7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EF Core model verified</a:t>
            </a:r>
          </a:p>
        </p:txBody>
      </p:sp>
      <p:sp>
        <p:nvSpPr>
          <p:cNvPr id="23" name="quality-pdf">
            <a:extLst xmlns:a="http://schemas.openxmlformats.org/drawingml/2006/main">
              <a:ext uri="{FF2B5EF4-FFF2-40B4-BE49-F238E27FC236}">
                <a16:creationId xmlns:a16="http://schemas.microsoft.com/office/drawing/2014/main" id="{C2615C9A-2446-4999-B9AD-C72ED302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PDFs visually reviewed</a:t>
            </a:r>
          </a:p>
        </p:txBody>
      </p:sp>
      <p:sp>
        <p:nvSpPr>
          <p:cNvPr id="24" name="quality-release">
            <a:extLst xmlns:a="http://schemas.openxmlformats.org/drawingml/2006/main">
              <a:ext uri="{FF2B5EF4-FFF2-40B4-BE49-F238E27FC236}">
                <a16:creationId xmlns:a16="http://schemas.microsoft.com/office/drawing/2014/main" id="{51C884D3-2AAD-4140-9109-9A4A3028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Self-contained win-x64</a:t>
            </a:r>
          </a:p>
        </p:txBody>
      </p:sp>
    </p:spTree>
    <p:extLst>
      <p:ext uri="{BB962C8B-B14F-4D97-AF65-F5344CB8AC3E}">
        <p14:creationId xmlns:p14="http://schemas.microsoft.com/office/powerpoint/2010/main" val="16049589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eyebrow">
            <a:extLst xmlns:a="http://schemas.openxmlformats.org/drawingml/2006/main">
              <a:ext uri="{FF2B5EF4-FFF2-40B4-BE49-F238E27FC236}">
                <a16:creationId xmlns:a16="http://schemas.microsoft.com/office/drawing/2014/main" id="{8FB59AEA-58D7-4747-BE3E-1E3B6160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09  /  RESULT</a:t>
            </a:r>
          </a:p>
        </p:txBody>
      </p:sp>
      <p:sp>
        <p:nvSpPr>
          <p:cNvPr id="2" name="result-title">
            <a:extLst xmlns:a="http://schemas.openxmlformats.org/drawingml/2006/main">
              <a:ext uri="{FF2B5EF4-FFF2-40B4-BE49-F238E27FC236}">
                <a16:creationId xmlns:a16="http://schemas.microsoft.com/office/drawing/2014/main" id="{74FF1C27-3771-4EC1-968F-FB22EABA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876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02428"/>
                </a:solidFill>
              </a:defRPr>
            </a:pPr>
            <a:r>
              <a:rPr sz="3450" b="1">
                <a:solidFill>
                  <a:srgbClr val="202428"/>
                </a:solidFill>
              </a:rPr>
              <a:t>A small finished product—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202428"/>
                </a:solidFill>
              </a:defRPr>
            </a:pPr>
            <a:r>
              <a:rPr sz="3450" b="1">
                <a:solidFill>
                  <a:srgbClr val="202428"/>
                </a:solidFill>
              </a:rPr>
              <a:t>with transparent engineering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7D453-4062-49D3-AEE5-505E9BAE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4" name="result-lead">
            <a:extLst xmlns:a="http://schemas.openxmlformats.org/drawingml/2006/main">
              <a:ext uri="{FF2B5EF4-FFF2-40B4-BE49-F238E27FC236}">
                <a16:creationId xmlns:a16="http://schemas.microsoft.com/office/drawing/2014/main" id="{2628FA2B-B4EC-4126-9E1A-36F1718B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56B70"/>
                </a:solidFill>
              </a:defRPr>
            </a:pPr>
            <a:r>
              <a:rPr sz="1650" b="0">
                <a:solidFill>
                  <a:srgbClr val="656B70"/>
                </a:solidFill>
              </a:rPr>
              <a:t>Invoice Manager demonstrates end-to-end software delivery:</a:t>
            </a:r>
          </a:p>
        </p:txBody>
      </p:sp>
      <p:sp>
        <p:nvSpPr>
          <p:cNvPr id="5" name="result-flow">
            <a:extLst xmlns:a="http://schemas.openxmlformats.org/drawingml/2006/main">
              <a:ext uri="{FF2B5EF4-FFF2-40B4-BE49-F238E27FC236}">
                <a16:creationId xmlns:a16="http://schemas.microsoft.com/office/drawing/2014/main" id="{9546C549-14E9-407E-AA5C-FDD8B00D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857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requirements  →  domain design  →  persistence  →  desktop UI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tests  →  documentation  →  release packaging</a:t>
            </a:r>
          </a:p>
        </p:txBody>
      </p:sp>
      <p:sp>
        <p:nvSpPr>
          <p:cNvPr id="6" name="result-release">
            <a:extLst xmlns:a="http://schemas.openxmlformats.org/drawingml/2006/main">
              <a:ext uri="{FF2B5EF4-FFF2-40B4-BE49-F238E27FC236}">
                <a16:creationId xmlns:a16="http://schemas.microsoft.com/office/drawing/2014/main" id="{4CED8E2E-5480-4A0A-8007-B697780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7" name="result-version">
            <a:extLst xmlns:a="http://schemas.openxmlformats.org/drawingml/2006/main">
              <a:ext uri="{FF2B5EF4-FFF2-40B4-BE49-F238E27FC236}">
                <a16:creationId xmlns:a16="http://schemas.microsoft.com/office/drawing/2014/main" id="{111C921F-0C8F-4CDC-833B-C2CCD4B8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576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45995"/>
                </a:solidFill>
              </a:defRPr>
            </a:pPr>
            <a:r>
              <a:rPr sz="2550" b="1">
                <a:solidFill>
                  <a:srgbClr val="345995"/>
                </a:solidFill>
              </a:rPr>
              <a:t>v1.0.0</a:t>
            </a:r>
          </a:p>
        </p:txBody>
      </p:sp>
      <p:sp>
        <p:nvSpPr>
          <p:cNvPr id="8" name="result-details">
            <a:extLst xmlns:a="http://schemas.openxmlformats.org/drawingml/2006/main">
              <a:ext uri="{FF2B5EF4-FFF2-40B4-BE49-F238E27FC236}">
                <a16:creationId xmlns:a16="http://schemas.microsoft.com/office/drawing/2014/main" id="{D89B98B4-4CA3-4709-A221-B461F9ED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8625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Windows x64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Local-first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Public GitHub repository</a:t>
            </a:r>
          </a:p>
        </p:txBody>
      </p:sp>
      <p:sp>
        <p:nvSpPr>
          <p:cNvPr id="9" name="result-footer">
            <a:extLst xmlns:a="http://schemas.openxmlformats.org/drawingml/2006/main">
              <a:ext uri="{FF2B5EF4-FFF2-40B4-BE49-F238E27FC236}">
                <a16:creationId xmlns:a16="http://schemas.microsoft.com/office/drawing/2014/main" id="{20376860-119B-4249-86C1-1A4DBD49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Source, screenshots, ADRs, release notes and verified Windows package available on GitHub.</a:t>
            </a:r>
          </a:p>
        </p:txBody>
      </p:sp>
    </p:spTree>
    <p:extLst>
      <p:ext uri="{BB962C8B-B14F-4D97-AF65-F5344CB8AC3E}">
        <p14:creationId xmlns:p14="http://schemas.microsoft.com/office/powerpoint/2010/main" val="150199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2026-08-12T10:36:46.8690000Z</dcterms:created>
  <dcterms:modified xsi:type="dcterms:W3CDTF">2026-08-12T10:36:46.8690000Z</dcterms:modified>
</coreProperties>
</file>